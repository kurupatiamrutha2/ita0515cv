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2400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7607"/>
            <a:ext cx="5760720" cy="1769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 algn="ctr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Calibri"/>
                <a:cs typeface="Calibri"/>
              </a:rPr>
              <a:t>SIMATS </a:t>
            </a:r>
            <a:r>
              <a:rPr sz="1100" b="1" spc="-10" dirty="0">
                <a:latin typeface="Calibri"/>
                <a:cs typeface="Calibri"/>
              </a:rPr>
              <a:t>ENGINEERING</a:t>
            </a:r>
            <a:endParaRPr sz="1100">
              <a:latin typeface="Calibri"/>
              <a:cs typeface="Calibri"/>
            </a:endParaRPr>
          </a:p>
          <a:p>
            <a:pPr marL="208279" algn="ctr">
              <a:lnSpc>
                <a:spcPct val="100000"/>
              </a:lnSpc>
              <a:spcBef>
                <a:spcPts val="1225"/>
              </a:spcBef>
            </a:pPr>
            <a:r>
              <a:rPr sz="1100" b="1" spc="-10" dirty="0">
                <a:latin typeface="Calibri"/>
                <a:cs typeface="Calibri"/>
              </a:rPr>
              <a:t>ASSESSMENT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TOOL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 </a:t>
            </a:r>
            <a:r>
              <a:rPr sz="1100" b="1" spc="-10" dirty="0">
                <a:latin typeface="Calibri"/>
                <a:cs typeface="Calibri"/>
              </a:rPr>
              <a:t>Analytical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Problem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Solving</a:t>
            </a:r>
            <a:endParaRPr sz="1100">
              <a:latin typeface="Calibri"/>
              <a:cs typeface="Calibri"/>
            </a:endParaRPr>
          </a:p>
          <a:p>
            <a:pPr marL="12700" marR="846455">
              <a:lnSpc>
                <a:spcPts val="2690"/>
              </a:lnSpc>
              <a:spcBef>
                <a:spcPts val="170"/>
              </a:spcBef>
              <a:tabLst>
                <a:tab pos="3639185" algn="l"/>
              </a:tabLst>
            </a:pPr>
            <a:r>
              <a:rPr sz="1100" b="1" spc="-10" dirty="0">
                <a:latin typeface="Calibri"/>
                <a:cs typeface="Calibri"/>
              </a:rPr>
              <a:t>COURSE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NAME: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COMPUTER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VISION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COURSE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CODE:</a:t>
            </a:r>
            <a:r>
              <a:rPr sz="1100" b="1" spc="35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ITA05 </a:t>
            </a:r>
            <a:r>
              <a:rPr sz="1100" b="1" spc="-10" dirty="0">
                <a:latin typeface="Calibri"/>
                <a:cs typeface="Calibri"/>
              </a:rPr>
              <a:t>COURSE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OUTCOME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COVERED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20"/>
              </a:lnSpc>
            </a:pPr>
            <a:r>
              <a:rPr sz="1100" b="1" dirty="0">
                <a:latin typeface="Calibri"/>
                <a:cs typeface="Calibri"/>
              </a:rPr>
              <a:t>CO2: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Apply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image</a:t>
            </a:r>
            <a:r>
              <a:rPr sz="1100" i="1" spc="-10" dirty="0">
                <a:latin typeface="Calibri"/>
                <a:cs typeface="Calibri"/>
              </a:rPr>
              <a:t> enhancement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-10" dirty="0">
                <a:latin typeface="Calibri"/>
                <a:cs typeface="Calibri"/>
              </a:rPr>
              <a:t> segmentation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techniques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10" dirty="0">
                <a:latin typeface="Calibri"/>
                <a:cs typeface="Calibri"/>
              </a:rPr>
              <a:t> extracting </a:t>
            </a:r>
            <a:r>
              <a:rPr sz="1100" i="1" dirty="0">
                <a:latin typeface="Calibri"/>
                <a:cs typeface="Calibri"/>
              </a:rPr>
              <a:t>meaningful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regions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from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i="1" dirty="0">
                <a:latin typeface="Calibri"/>
                <a:cs typeface="Calibri"/>
              </a:rPr>
              <a:t>images.</a:t>
            </a:r>
            <a:r>
              <a:rPr sz="1100" i="1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(BTL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3)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dirty="0">
                <a:latin typeface="Calibri"/>
                <a:cs typeface="Calibri"/>
              </a:rPr>
              <a:t>Assessment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Tool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Weightage: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50%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865456"/>
            <a:ext cx="8432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QUESTIONS:</a:t>
            </a:r>
            <a:r>
              <a:rPr sz="1100" b="1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0500" y="2836984"/>
            <a:ext cx="156908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73050">
              <a:lnSpc>
                <a:spcPct val="117000"/>
              </a:lnSpc>
              <a:spcBef>
                <a:spcPts val="100"/>
              </a:spcBef>
            </a:pPr>
            <a:r>
              <a:rPr sz="1100" b="1" spc="-25" dirty="0">
                <a:latin typeface="Calibri"/>
                <a:cs typeface="Calibri"/>
              </a:rPr>
              <a:t>Total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Marks50 Annexure</a:t>
            </a:r>
            <a:r>
              <a:rPr sz="1100" b="1" spc="10" dirty="0">
                <a:latin typeface="Calibri"/>
                <a:cs typeface="Calibri"/>
              </a:rPr>
              <a:t> </a:t>
            </a:r>
            <a:r>
              <a:rPr sz="1100" b="1" spc="-50" dirty="0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b="1" spc="-10" dirty="0">
                <a:latin typeface="Calibri"/>
                <a:cs typeface="Calibri"/>
              </a:rPr>
              <a:t>Analytical</a:t>
            </a:r>
            <a:r>
              <a:rPr sz="1100" b="1" spc="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Problem</a:t>
            </a:r>
            <a:r>
              <a:rPr sz="1100" b="1" spc="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Solving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6670" y="2865456"/>
            <a:ext cx="1257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Duration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:60</a:t>
            </a:r>
            <a:r>
              <a:rPr sz="1100" b="1" spc="-10" dirty="0">
                <a:latin typeface="Calibri"/>
                <a:cs typeface="Calibri"/>
              </a:rPr>
              <a:t> Minutes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903904"/>
            <a:ext cx="5892165" cy="157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i="1" dirty="0">
                <a:latin typeface="Calibri"/>
                <a:cs typeface="Calibri"/>
              </a:rPr>
              <a:t>Code</a:t>
            </a:r>
            <a:r>
              <a:rPr sz="1100" b="1" i="1" spc="-20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of</a:t>
            </a:r>
            <a:r>
              <a:rPr sz="1100" b="1" i="1" spc="-2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Conduct: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17000"/>
              </a:lnSpc>
              <a:spcBef>
                <a:spcPts val="1000"/>
              </a:spcBef>
              <a:tabLst>
                <a:tab pos="1501140" algn="l"/>
              </a:tabLst>
            </a:pPr>
            <a:r>
              <a:rPr sz="1100" i="1" dirty="0">
                <a:latin typeface="Calibri"/>
                <a:cs typeface="Calibri"/>
              </a:rPr>
              <a:t>I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i="1" dirty="0">
                <a:latin typeface="Calibri"/>
                <a:cs typeface="Calibri"/>
              </a:rPr>
              <a:t>(Name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/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Reg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No)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certify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submission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is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my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original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work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and</a:t>
            </a:r>
            <a:r>
              <a:rPr sz="1100" i="1" spc="-3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2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I</a:t>
            </a:r>
            <a:r>
              <a:rPr sz="1100" i="1" dirty="0">
                <a:latin typeface="Calibri"/>
                <a:cs typeface="Calibri"/>
              </a:rPr>
              <a:t> have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adhered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to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the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guidelines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specified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for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this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assessment.I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understand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that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any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violation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of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academic </a:t>
            </a:r>
            <a:r>
              <a:rPr sz="1100" i="1" dirty="0">
                <a:latin typeface="Calibri"/>
                <a:cs typeface="Calibri"/>
              </a:rPr>
              <a:t>integrity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rules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will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result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in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disciplinary</a:t>
            </a:r>
            <a:r>
              <a:rPr sz="1100" i="1" spc="-3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action.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100" b="1" i="1" spc="-10" dirty="0">
                <a:latin typeface="Calibri"/>
                <a:cs typeface="Calibri"/>
              </a:rPr>
              <a:t>Signature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of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dirty="0">
                <a:latin typeface="Calibri"/>
                <a:cs typeface="Calibri"/>
              </a:rPr>
              <a:t>the</a:t>
            </a:r>
            <a:r>
              <a:rPr sz="1100" b="1" i="1" spc="-5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Calibri"/>
                <a:cs typeface="Calibri"/>
              </a:rPr>
              <a:t>student: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RUBRICS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CALCULATION: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400" y="5613400"/>
          <a:ext cx="6515100" cy="3465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Criteria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Weightage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(Exemplary)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(Proficient)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08610">
                        <a:lnSpc>
                          <a:spcPct val="101699"/>
                        </a:lnSpc>
                        <a:spcBef>
                          <a:spcPts val="58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(Developing)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65125">
                        <a:lnSpc>
                          <a:spcPct val="101699"/>
                        </a:lnSpc>
                        <a:spcBef>
                          <a:spcPts val="58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(Beginning)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900" b="1" dirty="0">
                          <a:latin typeface="Calibri"/>
                          <a:cs typeface="Calibri"/>
                        </a:rPr>
                        <a:t>Marks</a:t>
                      </a:r>
                      <a:r>
                        <a:rPr sz="9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latin typeface="Calibri"/>
                          <a:cs typeface="Calibri"/>
                        </a:rPr>
                        <a:t>(100)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59690" marR="288290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7785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Clearly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problem,</a:t>
                      </a:r>
                      <a:r>
                        <a:rPr sz="8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identifies</a:t>
                      </a:r>
                      <a:r>
                        <a:rPr sz="8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parameters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accurately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304800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Understands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08915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Partial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understanding;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misses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elements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63195">
                        <a:lnSpc>
                          <a:spcPct val="101699"/>
                        </a:lnSpc>
                        <a:spcBef>
                          <a:spcPts val="56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Misinterprets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understand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problem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Selection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7785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Selects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appropriate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method/formula</a:t>
                      </a:r>
                      <a:r>
                        <a:rPr sz="8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justification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62255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Selects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53035" algn="just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Inappropriate</a:t>
                      </a:r>
                      <a:r>
                        <a:rPr sz="8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partially</a:t>
                      </a:r>
                      <a:r>
                        <a:rPr sz="8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65100">
                        <a:lnSpc>
                          <a:spcPct val="101699"/>
                        </a:lnSpc>
                        <a:spcBef>
                          <a:spcPts val="57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select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method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Solution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25%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80645">
                        <a:lnSpc>
                          <a:spcPct val="101699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Logical,</a:t>
                      </a:r>
                      <a:r>
                        <a:rPr sz="8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systematic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8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throughout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67005">
                        <a:lnSpc>
                          <a:spcPct val="101699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Mostly</a:t>
                      </a:r>
                      <a:r>
                        <a:rPr sz="8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mistakes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23520">
                        <a:lnSpc>
                          <a:spcPct val="101699"/>
                        </a:lnSpc>
                        <a:spcBef>
                          <a:spcPts val="60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Disorganized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steps;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clear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process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59690" marR="42481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6540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accurate;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answer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35890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6192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Frequent</a:t>
                      </a:r>
                      <a:r>
                        <a:rPr sz="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errors;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incorrect</a:t>
                      </a:r>
                      <a:r>
                        <a:rPr sz="8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answer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48615">
                        <a:lnSpc>
                          <a:spcPct val="101699"/>
                        </a:lnSpc>
                        <a:spcBef>
                          <a:spcPts val="56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valid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calculations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marL="59690" marR="205740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r>
                        <a:rPr sz="8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Results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9085" algn="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spc="-25" dirty="0">
                          <a:latin typeface="Calibri"/>
                          <a:cs typeface="Calibri"/>
                        </a:rPr>
                        <a:t>15%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70485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Clearly</a:t>
                      </a:r>
                      <a:r>
                        <a:rPr sz="8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interprets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results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units</a:t>
                      </a:r>
                      <a:r>
                        <a:rPr sz="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engineering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relevance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9850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Calibri"/>
                          <a:cs typeface="Calibri"/>
                        </a:rPr>
                        <a:t>Basic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r>
                        <a:rPr sz="8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minor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omissions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81280">
                        <a:lnSpc>
                          <a:spcPct val="101699"/>
                        </a:lnSpc>
                        <a:spcBef>
                          <a:spcPts val="515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unclear</a:t>
                      </a:r>
                      <a:r>
                        <a:rPr sz="8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interpretation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0" dirty="0">
                          <a:latin typeface="Calibri"/>
                          <a:cs typeface="Calibri"/>
                        </a:rPr>
                        <a:t> interpretation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33450" y="1847713"/>
            <a:ext cx="5762625" cy="0"/>
          </a:xfrm>
          <a:custGeom>
            <a:avLst/>
            <a:gdLst/>
            <a:ahLst/>
            <a:cxnLst/>
            <a:rect l="l" t="t" r="r" b="b"/>
            <a:pathLst>
              <a:path w="5762625">
                <a:moveTo>
                  <a:pt x="0" y="0"/>
                </a:moveTo>
                <a:lnTo>
                  <a:pt x="57626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2764594"/>
            <a:ext cx="6324600" cy="571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450" y="3676042"/>
            <a:ext cx="6391275" cy="571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450" y="5208134"/>
            <a:ext cx="643890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220719"/>
            <a:ext cx="4304665" cy="2410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Grey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Level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Transformation</a:t>
            </a:r>
            <a:endParaRPr sz="110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purpose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grey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level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transformation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enhancement.</a:t>
            </a:r>
            <a:endParaRPr sz="1100">
              <a:latin typeface="Calibri"/>
              <a:cs typeface="Calibri"/>
            </a:endParaRPr>
          </a:p>
          <a:p>
            <a:pPr marL="12700" marR="721995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Apply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negative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transformation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s=255-</a:t>
            </a:r>
            <a:r>
              <a:rPr sz="1100" dirty="0">
                <a:latin typeface="Calibri"/>
                <a:cs typeface="Calibri"/>
              </a:rPr>
              <a:t>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pixel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values: r=[50,100,150,200]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transformed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buAutoNum type="arabicPeriod" startAt="2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Log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Transformation</a:t>
            </a:r>
            <a:endParaRPr sz="110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how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-10" dirty="0">
                <a:latin typeface="Calibri"/>
                <a:cs typeface="Calibri"/>
              </a:rPr>
              <a:t> transformation </a:t>
            </a:r>
            <a:r>
              <a:rPr sz="1100" dirty="0">
                <a:latin typeface="Calibri"/>
                <a:cs typeface="Calibri"/>
              </a:rPr>
              <a:t>enhances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low-</a:t>
            </a:r>
            <a:r>
              <a:rPr sz="1100" spc="-10" dirty="0">
                <a:latin typeface="Calibri"/>
                <a:cs typeface="Calibri"/>
              </a:rPr>
              <a:t>intensity pixels.</a:t>
            </a:r>
            <a:endParaRPr sz="1100">
              <a:latin typeface="Calibri"/>
              <a:cs typeface="Calibri"/>
            </a:endParaRPr>
          </a:p>
          <a:p>
            <a:pPr marL="12700" marR="1490980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Given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s=clog(1+r),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c=10,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for: </a:t>
            </a:r>
            <a:r>
              <a:rPr sz="1100" spc="-10" dirty="0">
                <a:latin typeface="Calibri"/>
                <a:cs typeface="Calibri"/>
              </a:rPr>
              <a:t>r=[0,10,50,100]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51130" algn="l"/>
              </a:tabLst>
            </a:pPr>
            <a:r>
              <a:rPr sz="1100" b="1" spc="-10" dirty="0">
                <a:latin typeface="Calibri"/>
                <a:cs typeface="Calibri"/>
              </a:rPr>
              <a:t>Histogram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Processing</a:t>
            </a:r>
            <a:endParaRPr sz="110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histogram equalization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0" dirty="0">
                <a:latin typeface="Calibri"/>
                <a:cs typeface="Calibri"/>
              </a:rPr>
              <a:t> contrast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enhancement.</a:t>
            </a:r>
            <a:endParaRPr sz="1100">
              <a:latin typeface="Calibri"/>
              <a:cs typeface="Calibri"/>
            </a:endParaRPr>
          </a:p>
          <a:p>
            <a:pPr marL="204470" lvl="1" indent="-19177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Given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3-</a:t>
            </a:r>
            <a:r>
              <a:rPr sz="1100" dirty="0">
                <a:latin typeface="Calibri"/>
                <a:cs typeface="Calibri"/>
              </a:rPr>
              <a:t>bit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histogram: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2175" y="3665320"/>
          <a:ext cx="1199515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31750">
                        <a:lnSpc>
                          <a:spcPts val="104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Intensit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045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Frequenc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31750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95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1700" y="4726613"/>
            <a:ext cx="3877310" cy="258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Compute 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cumulative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distribution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 </a:t>
            </a:r>
            <a:r>
              <a:rPr sz="1100" spc="-10" dirty="0">
                <a:latin typeface="Calibri"/>
                <a:cs typeface="Calibri"/>
              </a:rPr>
              <a:t>equalized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intensity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buAutoNum type="arabicPeriod" startAt="4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Spatial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Filtering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(Smoothing)</a:t>
            </a:r>
            <a:endParaRPr sz="110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purpose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spatial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filtering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smoothing.</a:t>
            </a:r>
            <a:endParaRPr sz="1100">
              <a:latin typeface="Calibri"/>
              <a:cs typeface="Calibri"/>
            </a:endParaRPr>
          </a:p>
          <a:p>
            <a:pPr marL="12700" marR="765810" lvl="1" indent="191770">
              <a:lnSpc>
                <a:spcPct val="101699"/>
              </a:lnSpc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Apply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3×3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averaging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following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region: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50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center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pixel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Calibri"/>
              <a:cs typeface="Calibri"/>
            </a:endParaRPr>
          </a:p>
          <a:p>
            <a:pPr marL="151130" indent="-138430">
              <a:lnSpc>
                <a:spcPct val="100000"/>
              </a:lnSpc>
              <a:buAutoNum type="arabicPeriod" startAt="5"/>
              <a:tabLst>
                <a:tab pos="151130" algn="l"/>
              </a:tabLst>
            </a:pPr>
            <a:r>
              <a:rPr sz="1100" b="1" dirty="0">
                <a:latin typeface="Calibri"/>
                <a:cs typeface="Calibri"/>
              </a:rPr>
              <a:t>Spatial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Filtering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(Sharpening)</a:t>
            </a:r>
            <a:endParaRPr sz="1100">
              <a:latin typeface="Calibri"/>
              <a:cs typeface="Calibri"/>
            </a:endParaRPr>
          </a:p>
          <a:p>
            <a:pPr marL="198120" lvl="1" indent="-185420">
              <a:lnSpc>
                <a:spcPct val="100000"/>
              </a:lnSpc>
              <a:spcBef>
                <a:spcPts val="25"/>
              </a:spcBef>
              <a:buFont typeface="Calibri"/>
              <a:buAutoNum type="alphaLcParenBoth"/>
              <a:tabLst>
                <a:tab pos="198120" algn="l"/>
              </a:tabLst>
            </a:pPr>
            <a:r>
              <a:rPr sz="1100" dirty="0">
                <a:latin typeface="Calibri"/>
                <a:cs typeface="Calibri"/>
              </a:rPr>
              <a:t>Explain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how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sharpening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enhances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image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details.</a:t>
            </a:r>
            <a:endParaRPr sz="1100">
              <a:latin typeface="Calibri"/>
              <a:cs typeface="Calibri"/>
            </a:endParaRPr>
          </a:p>
          <a:p>
            <a:pPr marL="204470" lvl="1" indent="-191770">
              <a:lnSpc>
                <a:spcPct val="100000"/>
              </a:lnSpc>
              <a:spcBef>
                <a:spcPts val="20"/>
              </a:spcBef>
              <a:buFont typeface="Calibri"/>
              <a:buAutoNum type="alphaLcParenBoth"/>
              <a:tabLst>
                <a:tab pos="204470" algn="l"/>
              </a:tabLst>
            </a:pPr>
            <a:r>
              <a:rPr sz="1100" dirty="0">
                <a:latin typeface="Calibri"/>
                <a:cs typeface="Calibri"/>
              </a:rPr>
              <a:t>Apply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Laplacian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mask: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492125" algn="l"/>
                <a:tab pos="1050925" algn="l"/>
                <a:tab pos="1920239" algn="l"/>
              </a:tabLst>
            </a:pPr>
            <a:r>
              <a:rPr sz="1100" dirty="0">
                <a:latin typeface="Calibri"/>
                <a:cs typeface="Calibri"/>
              </a:rPr>
              <a:t>[0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-</a:t>
            </a:r>
            <a:r>
              <a:rPr sz="1100" spc="-50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	0},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{-</a:t>
            </a:r>
            <a:r>
              <a:rPr sz="1100" spc="-50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	4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-</a:t>
            </a:r>
            <a:r>
              <a:rPr sz="1100" dirty="0">
                <a:latin typeface="Calibri"/>
                <a:cs typeface="Calibri"/>
              </a:rPr>
              <a:t>1],</a:t>
            </a:r>
            <a:r>
              <a:rPr sz="1100" spc="4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{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0</a:t>
            </a:r>
            <a:r>
              <a:rPr sz="1100" spc="-10" dirty="0">
                <a:latin typeface="Calibri"/>
                <a:cs typeface="Calibri"/>
              </a:rPr>
              <a:t> -</a:t>
            </a:r>
            <a:r>
              <a:rPr sz="1100" spc="-50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	0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]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matrix: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alibri"/>
                <a:cs typeface="Calibri"/>
              </a:rPr>
              <a:t>10</a:t>
            </a:r>
            <a:r>
              <a:rPr sz="1100" spc="4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10</a:t>
            </a:r>
            <a:r>
              <a:rPr sz="1100" spc="47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center.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484</Words>
  <Application>Microsoft Office PowerPoint</Application>
  <PresentationFormat>Custom</PresentationFormat>
  <Paragraphs>90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CO-2- AT-1.docx</dc:title>
  <dc:creator>Amrutha</dc:creator>
  <cp:lastModifiedBy>kurupati amrutha</cp:lastModifiedBy>
  <cp:revision>1</cp:revision>
  <dcterms:created xsi:type="dcterms:W3CDTF">2026-07-27T05:06:42Z</dcterms:created>
  <dcterms:modified xsi:type="dcterms:W3CDTF">2026-07-27T05:06:32Z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2026-07-27T00:00:00Z</vt:filetime>
  </property>
  <property fmtid="{D5CDD505-2E9C-101B-9397-08002B2CF9AE}" pid="4" name="Producer">
    <vt:lpwstr>Skia/PDF m152 Google Docs Renderer</vt:lpwstr>
  </property>
  <property fmtid="{D5CDD505-2E9C-101B-9397-08002B2CF9AE}" pid="5" name="LastSaved">
    <vt:filetime>2026-07-27T00:00:00Z</vt:filetime>
  </property>
</Properties>
</file>