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2539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0C37F-D478-498C-BA44-45E4BE9C525E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74925" y="1257300"/>
            <a:ext cx="262255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0769C-A453-48A7-8CE1-3559FD1D3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91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0769C-A453-48A7-8CE1-3559FD1D3B0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461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7607"/>
            <a:ext cx="5760720" cy="1769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279" algn="ctr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latin typeface="Calibri"/>
                <a:cs typeface="Calibri"/>
              </a:rPr>
              <a:t>SIMATS </a:t>
            </a:r>
            <a:r>
              <a:rPr sz="1100" b="1" spc="-10" dirty="0">
                <a:latin typeface="Calibri"/>
                <a:cs typeface="Calibri"/>
              </a:rPr>
              <a:t>ENGINEERING</a:t>
            </a:r>
            <a:endParaRPr sz="1100" dirty="0">
              <a:latin typeface="Calibri"/>
              <a:cs typeface="Calibri"/>
            </a:endParaRPr>
          </a:p>
          <a:p>
            <a:pPr marL="208279" algn="ctr">
              <a:lnSpc>
                <a:spcPct val="100000"/>
              </a:lnSpc>
              <a:spcBef>
                <a:spcPts val="1225"/>
              </a:spcBef>
            </a:pPr>
            <a:r>
              <a:rPr sz="1100" b="1" spc="-10" dirty="0">
                <a:latin typeface="Calibri"/>
                <a:cs typeface="Calibri"/>
              </a:rPr>
              <a:t>ASSESSMENT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TOOL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1: </a:t>
            </a:r>
            <a:r>
              <a:rPr sz="1100" b="1" spc="-10" dirty="0">
                <a:latin typeface="Calibri"/>
                <a:cs typeface="Calibri"/>
              </a:rPr>
              <a:t>Analytical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Problem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Solving</a:t>
            </a:r>
            <a:endParaRPr sz="1100" dirty="0">
              <a:latin typeface="Calibri"/>
              <a:cs typeface="Calibri"/>
            </a:endParaRPr>
          </a:p>
          <a:p>
            <a:pPr marL="12700" marR="846455">
              <a:lnSpc>
                <a:spcPts val="2690"/>
              </a:lnSpc>
              <a:spcBef>
                <a:spcPts val="170"/>
              </a:spcBef>
              <a:tabLst>
                <a:tab pos="3639185" algn="l"/>
              </a:tabLst>
            </a:pPr>
            <a:r>
              <a:rPr sz="1100" b="1" spc="-10" dirty="0">
                <a:latin typeface="Calibri"/>
                <a:cs typeface="Calibri"/>
              </a:rPr>
              <a:t>COURSE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NAME: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COMPUTER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VISION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10" dirty="0">
                <a:latin typeface="Calibri"/>
                <a:cs typeface="Calibri"/>
              </a:rPr>
              <a:t>COURSE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CODE:</a:t>
            </a:r>
            <a:r>
              <a:rPr sz="1100" b="1" spc="-20" dirty="0">
                <a:latin typeface="Calibri"/>
                <a:cs typeface="Calibri"/>
              </a:rPr>
              <a:t>ITA05 </a:t>
            </a:r>
            <a:r>
              <a:rPr sz="1100" b="1" spc="-10" dirty="0">
                <a:latin typeface="Calibri"/>
                <a:cs typeface="Calibri"/>
              </a:rPr>
              <a:t>COURSE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OUTCOME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COVERED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ts val="1220"/>
              </a:lnSpc>
            </a:pPr>
            <a:r>
              <a:rPr sz="1100" b="1" dirty="0">
                <a:latin typeface="Calibri"/>
                <a:cs typeface="Calibri"/>
              </a:rPr>
              <a:t>CO2: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Apply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image</a:t>
            </a:r>
            <a:r>
              <a:rPr sz="1100" i="1" spc="-10" dirty="0">
                <a:latin typeface="Calibri"/>
                <a:cs typeface="Calibri"/>
              </a:rPr>
              <a:t> enhancement </a:t>
            </a:r>
            <a:r>
              <a:rPr sz="1100" i="1" dirty="0">
                <a:latin typeface="Calibri"/>
                <a:cs typeface="Calibri"/>
              </a:rPr>
              <a:t>and</a:t>
            </a:r>
            <a:r>
              <a:rPr sz="1100" i="1" spc="-10" dirty="0">
                <a:latin typeface="Calibri"/>
                <a:cs typeface="Calibri"/>
              </a:rPr>
              <a:t> segmentation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techniques </a:t>
            </a:r>
            <a:r>
              <a:rPr sz="1100" i="1" dirty="0">
                <a:latin typeface="Calibri"/>
                <a:cs typeface="Calibri"/>
              </a:rPr>
              <a:t>for</a:t>
            </a:r>
            <a:r>
              <a:rPr sz="1100" i="1" spc="-10" dirty="0">
                <a:latin typeface="Calibri"/>
                <a:cs typeface="Calibri"/>
              </a:rPr>
              <a:t> extracting </a:t>
            </a:r>
            <a:r>
              <a:rPr sz="1100" i="1" dirty="0">
                <a:latin typeface="Calibri"/>
                <a:cs typeface="Calibri"/>
              </a:rPr>
              <a:t>meaningful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regions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from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100" i="1" dirty="0">
                <a:latin typeface="Calibri"/>
                <a:cs typeface="Calibri"/>
              </a:rPr>
              <a:t>images.</a:t>
            </a:r>
            <a:r>
              <a:rPr sz="1100" i="1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(BTL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3)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100" dirty="0">
                <a:latin typeface="Calibri"/>
                <a:cs typeface="Calibri"/>
              </a:rPr>
              <a:t>Assessment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Tool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Weightage: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50%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2865456"/>
            <a:ext cx="8432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QUESTIONS:</a:t>
            </a:r>
            <a:r>
              <a:rPr sz="1100" b="1" dirty="0">
                <a:latin typeface="Calibri"/>
                <a:cs typeface="Calibri"/>
              </a:rPr>
              <a:t> </a:t>
            </a:r>
            <a:r>
              <a:rPr sz="1100" b="1" spc="-50" dirty="0"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30500" y="2836984"/>
            <a:ext cx="1569085" cy="61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273050">
              <a:lnSpc>
                <a:spcPct val="117000"/>
              </a:lnSpc>
              <a:spcBef>
                <a:spcPts val="100"/>
              </a:spcBef>
            </a:pPr>
            <a:r>
              <a:rPr sz="1100" b="1" spc="-25" dirty="0">
                <a:latin typeface="Calibri"/>
                <a:cs typeface="Calibri"/>
              </a:rPr>
              <a:t>Total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Marks50 Annexure</a:t>
            </a:r>
            <a:r>
              <a:rPr sz="1100" b="1" spc="10" dirty="0">
                <a:latin typeface="Calibri"/>
                <a:cs typeface="Calibri"/>
              </a:rPr>
              <a:t> </a:t>
            </a:r>
            <a:r>
              <a:rPr sz="1100" b="1" spc="-50" dirty="0"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100" b="1" spc="-10" dirty="0">
                <a:latin typeface="Calibri"/>
                <a:cs typeface="Calibri"/>
              </a:rPr>
              <a:t>Analytical</a:t>
            </a:r>
            <a:r>
              <a:rPr sz="1100" b="1" spc="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Problem</a:t>
            </a:r>
            <a:r>
              <a:rPr sz="1100" b="1" spc="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Solving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46670" y="2865456"/>
            <a:ext cx="12573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Duration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:60</a:t>
            </a:r>
            <a:r>
              <a:rPr sz="1100" b="1" spc="-10" dirty="0">
                <a:latin typeface="Calibri"/>
                <a:cs typeface="Calibri"/>
              </a:rPr>
              <a:t> Minutes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3903904"/>
            <a:ext cx="5892165" cy="1572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dirty="0">
                <a:latin typeface="Calibri"/>
                <a:cs typeface="Calibri"/>
              </a:rPr>
              <a:t>Code</a:t>
            </a:r>
            <a:r>
              <a:rPr sz="1100" b="1" i="1" spc="-20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of</a:t>
            </a:r>
            <a:r>
              <a:rPr sz="1100" b="1" i="1" spc="-20" dirty="0">
                <a:latin typeface="Calibri"/>
                <a:cs typeface="Calibri"/>
              </a:rPr>
              <a:t> </a:t>
            </a:r>
            <a:r>
              <a:rPr sz="1100" b="1" i="1" spc="-10" dirty="0">
                <a:latin typeface="Calibri"/>
                <a:cs typeface="Calibri"/>
              </a:rPr>
              <a:t>Conduct:</a:t>
            </a:r>
            <a:endParaRPr sz="1100" dirty="0">
              <a:latin typeface="Calibri"/>
              <a:cs typeface="Calibri"/>
            </a:endParaRPr>
          </a:p>
          <a:p>
            <a:pPr marL="12700" marR="5080">
              <a:lnSpc>
                <a:spcPct val="117000"/>
              </a:lnSpc>
              <a:spcBef>
                <a:spcPts val="1000"/>
              </a:spcBef>
              <a:tabLst>
                <a:tab pos="1501140" algn="l"/>
              </a:tabLst>
            </a:pPr>
            <a:r>
              <a:rPr sz="1100" i="1" dirty="0">
                <a:latin typeface="Calibri"/>
                <a:cs typeface="Calibri"/>
              </a:rPr>
              <a:t>I </a:t>
            </a:r>
            <a:r>
              <a:rPr lang="en-IN" sz="1100" u="sng" dirty="0" err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K.Amrutha</a:t>
            </a:r>
            <a:r>
              <a:rPr lang="en-IN"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/192425366</a:t>
            </a:r>
            <a:r>
              <a:rPr sz="1100" i="1" dirty="0">
                <a:latin typeface="Calibri"/>
                <a:cs typeface="Calibri"/>
              </a:rPr>
              <a:t>(Name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/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Reg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No)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certify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that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this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submission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is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my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original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work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and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that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I</a:t>
            </a:r>
            <a:r>
              <a:rPr sz="1100" i="1" dirty="0">
                <a:latin typeface="Calibri"/>
                <a:cs typeface="Calibri"/>
              </a:rPr>
              <a:t> have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adhered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to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the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guidelines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specified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for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this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assessment.I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understand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that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any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violation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of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academic </a:t>
            </a:r>
            <a:r>
              <a:rPr sz="1100" i="1" dirty="0">
                <a:latin typeface="Calibri"/>
                <a:cs typeface="Calibri"/>
              </a:rPr>
              <a:t>integrity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rules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will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result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disciplinary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action.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1100" b="1" i="1" spc="-10" dirty="0">
                <a:latin typeface="Calibri"/>
                <a:cs typeface="Calibri"/>
              </a:rPr>
              <a:t>Signature</a:t>
            </a:r>
            <a:r>
              <a:rPr sz="1100" b="1" i="1" spc="-5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of</a:t>
            </a:r>
            <a:r>
              <a:rPr sz="1100" b="1" i="1" spc="-5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the</a:t>
            </a:r>
            <a:r>
              <a:rPr sz="1100" b="1" i="1" spc="-5" dirty="0">
                <a:latin typeface="Calibri"/>
                <a:cs typeface="Calibri"/>
              </a:rPr>
              <a:t> </a:t>
            </a:r>
            <a:r>
              <a:rPr sz="1100" b="1" i="1" spc="-10" dirty="0">
                <a:latin typeface="Calibri"/>
                <a:cs typeface="Calibri"/>
              </a:rPr>
              <a:t>student:</a:t>
            </a:r>
            <a:r>
              <a:rPr lang="en-IN" sz="1100" b="1" i="1" spc="-10" dirty="0" err="1">
                <a:latin typeface="Calibri"/>
                <a:cs typeface="Calibri"/>
              </a:rPr>
              <a:t>K.Amrutha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Calibri"/>
                <a:cs typeface="Calibri"/>
              </a:rPr>
              <a:t>RUBRICS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FOR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CALCULATION:</a:t>
            </a:r>
            <a:endParaRPr sz="1100" dirty="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4400" y="5613400"/>
          <a:ext cx="6515100" cy="3465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3065"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Criteria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7335"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Weightage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Level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(Exemplary)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Level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(Proficient)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308610">
                        <a:lnSpc>
                          <a:spcPct val="101699"/>
                        </a:lnSpc>
                        <a:spcBef>
                          <a:spcPts val="585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Level</a:t>
                      </a:r>
                      <a:r>
                        <a:rPr sz="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(Developing)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365125">
                        <a:lnSpc>
                          <a:spcPct val="101699"/>
                        </a:lnSpc>
                        <a:spcBef>
                          <a:spcPts val="585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Level</a:t>
                      </a:r>
                      <a:r>
                        <a:rPr sz="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5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(Beginning)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900" b="1" dirty="0">
                          <a:latin typeface="Calibri"/>
                          <a:cs typeface="Calibri"/>
                        </a:rPr>
                        <a:t>Marks</a:t>
                      </a:r>
                      <a:r>
                        <a:rPr sz="9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latin typeface="Calibri"/>
                          <a:cs typeface="Calibri"/>
                        </a:rPr>
                        <a:t>(100)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59690" marR="288290">
                        <a:lnSpc>
                          <a:spcPct val="101699"/>
                        </a:lnSpc>
                        <a:spcBef>
                          <a:spcPts val="56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Problem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Understanding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9085" algn="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800" b="1" spc="-25" dirty="0">
                          <a:latin typeface="Calibri"/>
                          <a:cs typeface="Calibri"/>
                        </a:rPr>
                        <a:t>20%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57785">
                        <a:lnSpc>
                          <a:spcPct val="101699"/>
                        </a:lnSpc>
                        <a:spcBef>
                          <a:spcPts val="56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Clearly</a:t>
                      </a:r>
                      <a:r>
                        <a:rPr sz="8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interprets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problem,</a:t>
                      </a:r>
                      <a:r>
                        <a:rPr sz="800" b="1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identifies</a:t>
                      </a:r>
                      <a:r>
                        <a:rPr sz="800" b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parameters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requirements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accurately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304800">
                        <a:lnSpc>
                          <a:spcPct val="101699"/>
                        </a:lnSpc>
                        <a:spcBef>
                          <a:spcPts val="56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Understands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problem</a:t>
                      </a:r>
                      <a:r>
                        <a:rPr sz="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minor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gaps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208915">
                        <a:lnSpc>
                          <a:spcPct val="101699"/>
                        </a:lnSpc>
                        <a:spcBef>
                          <a:spcPts val="56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Partial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understanding;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misses</a:t>
                      </a:r>
                      <a:r>
                        <a:rPr sz="8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elements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163195">
                        <a:lnSpc>
                          <a:spcPct val="101699"/>
                        </a:lnSpc>
                        <a:spcBef>
                          <a:spcPts val="56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Misinterprets</a:t>
                      </a:r>
                      <a:r>
                        <a:rPr sz="8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unable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understand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problem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Method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Selection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9085" algn="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800" b="1" spc="-25" dirty="0">
                          <a:latin typeface="Calibri"/>
                          <a:cs typeface="Calibri"/>
                        </a:rPr>
                        <a:t>20%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57785">
                        <a:lnSpc>
                          <a:spcPct val="101699"/>
                        </a:lnSpc>
                        <a:spcBef>
                          <a:spcPts val="57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Selects</a:t>
                      </a:r>
                      <a:r>
                        <a:rPr sz="8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most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appropriate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method/formula</a:t>
                      </a:r>
                      <a:r>
                        <a:rPr sz="800" b="1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strong</a:t>
                      </a:r>
                      <a:r>
                        <a:rPr sz="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justification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262255">
                        <a:lnSpc>
                          <a:spcPct val="101699"/>
                        </a:lnSpc>
                        <a:spcBef>
                          <a:spcPts val="57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Selects</a:t>
                      </a:r>
                      <a:r>
                        <a:rPr sz="8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correct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method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minor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errors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153035" algn="just">
                        <a:lnSpc>
                          <a:spcPct val="101699"/>
                        </a:lnSpc>
                        <a:spcBef>
                          <a:spcPts val="57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Inappropriate</a:t>
                      </a:r>
                      <a:r>
                        <a:rPr sz="800" b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partially</a:t>
                      </a:r>
                      <a:r>
                        <a:rPr sz="800" b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correct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method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165100">
                        <a:lnSpc>
                          <a:spcPct val="101699"/>
                        </a:lnSpc>
                        <a:spcBef>
                          <a:spcPts val="575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Unable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select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method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Solution</a:t>
                      </a:r>
                      <a:r>
                        <a:rPr sz="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Process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9085" algn="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800" b="1" spc="-25" dirty="0">
                          <a:latin typeface="Calibri"/>
                          <a:cs typeface="Calibri"/>
                        </a:rPr>
                        <a:t>25%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80645">
                        <a:lnSpc>
                          <a:spcPct val="101699"/>
                        </a:lnSpc>
                        <a:spcBef>
                          <a:spcPts val="60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Logical,</a:t>
                      </a:r>
                      <a:r>
                        <a:rPr sz="8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systematic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steps</a:t>
                      </a:r>
                      <a:r>
                        <a:rPr sz="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correct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approach</a:t>
                      </a:r>
                      <a:r>
                        <a:rPr sz="800" b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throughout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67005">
                        <a:lnSpc>
                          <a:spcPct val="101699"/>
                        </a:lnSpc>
                        <a:spcBef>
                          <a:spcPts val="60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Mostly</a:t>
                      </a:r>
                      <a:r>
                        <a:rPr sz="800" b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correct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steps</a:t>
                      </a:r>
                      <a:r>
                        <a:rPr sz="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minor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mistakes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223520">
                        <a:lnSpc>
                          <a:spcPct val="101699"/>
                        </a:lnSpc>
                        <a:spcBef>
                          <a:spcPts val="60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Disorganized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steps;</a:t>
                      </a:r>
                      <a:r>
                        <a:rPr sz="8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errors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clear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process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59690" marR="424815">
                        <a:lnSpc>
                          <a:spcPct val="101699"/>
                        </a:lnSpc>
                        <a:spcBef>
                          <a:spcPts val="560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Accuracy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Calculation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9085" algn="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800" b="1" spc="-25" dirty="0">
                          <a:latin typeface="Calibri"/>
                          <a:cs typeface="Calibri"/>
                        </a:rPr>
                        <a:t>20%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65405">
                        <a:lnSpc>
                          <a:spcPct val="101699"/>
                        </a:lnSpc>
                        <a:spcBef>
                          <a:spcPts val="56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calculations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accurate;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correct</a:t>
                      </a:r>
                      <a:r>
                        <a:rPr sz="8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final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answer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35890">
                        <a:lnSpc>
                          <a:spcPct val="101699"/>
                        </a:lnSpc>
                        <a:spcBef>
                          <a:spcPts val="56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Minor</a:t>
                      </a:r>
                      <a:r>
                        <a:rPr sz="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calculation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errors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161925">
                        <a:lnSpc>
                          <a:spcPct val="101699"/>
                        </a:lnSpc>
                        <a:spcBef>
                          <a:spcPts val="56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Frequent</a:t>
                      </a:r>
                      <a:r>
                        <a:rPr sz="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errors;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incorrect</a:t>
                      </a:r>
                      <a:r>
                        <a:rPr sz="800" b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final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answer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348615">
                        <a:lnSpc>
                          <a:spcPct val="101699"/>
                        </a:lnSpc>
                        <a:spcBef>
                          <a:spcPts val="56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valid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calculations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marL="59690" marR="205740">
                        <a:lnSpc>
                          <a:spcPct val="101699"/>
                        </a:lnSpc>
                        <a:spcBef>
                          <a:spcPts val="51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Interpretation</a:t>
                      </a:r>
                      <a:r>
                        <a:rPr sz="800" b="1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Results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54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9085" algn="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b="1" spc="-25" dirty="0">
                          <a:latin typeface="Calibri"/>
                          <a:cs typeface="Calibri"/>
                        </a:rPr>
                        <a:t>15%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70485">
                        <a:lnSpc>
                          <a:spcPct val="101699"/>
                        </a:lnSpc>
                        <a:spcBef>
                          <a:spcPts val="51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Clearly</a:t>
                      </a:r>
                      <a:r>
                        <a:rPr sz="8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interprets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results</a:t>
                      </a:r>
                      <a:r>
                        <a:rPr sz="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units</a:t>
                      </a:r>
                      <a:r>
                        <a:rPr sz="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engineering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relevance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54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69850">
                        <a:lnSpc>
                          <a:spcPct val="101699"/>
                        </a:lnSpc>
                        <a:spcBef>
                          <a:spcPts val="51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Basic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interpretation</a:t>
                      </a:r>
                      <a:r>
                        <a:rPr sz="800" b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minor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omissions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54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81280">
                        <a:lnSpc>
                          <a:spcPct val="101699"/>
                        </a:lnSpc>
                        <a:spcBef>
                          <a:spcPts val="515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Limited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unclear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interpretation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54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9530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 interpretation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933450" y="1847713"/>
            <a:ext cx="5762625" cy="0"/>
          </a:xfrm>
          <a:custGeom>
            <a:avLst/>
            <a:gdLst/>
            <a:ahLst/>
            <a:cxnLst/>
            <a:rect l="l" t="t" r="r" b="b"/>
            <a:pathLst>
              <a:path w="5762625">
                <a:moveTo>
                  <a:pt x="0" y="0"/>
                </a:moveTo>
                <a:lnTo>
                  <a:pt x="576262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50" y="2764594"/>
            <a:ext cx="6324600" cy="571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450" y="3676042"/>
            <a:ext cx="6391275" cy="571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3450" y="5208134"/>
            <a:ext cx="6438900" cy="57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220719"/>
            <a:ext cx="4304665" cy="2410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30" indent="-13843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51130" algn="l"/>
              </a:tabLst>
            </a:pPr>
            <a:r>
              <a:rPr sz="1100" b="1" dirty="0">
                <a:latin typeface="Calibri"/>
                <a:cs typeface="Calibri"/>
              </a:rPr>
              <a:t>Grey</a:t>
            </a:r>
            <a:r>
              <a:rPr sz="1100" b="1" spc="-5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Level</a:t>
            </a:r>
            <a:r>
              <a:rPr sz="1100" b="1" spc="-5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Transformation</a:t>
            </a:r>
            <a:endParaRPr sz="1100" dirty="0">
              <a:latin typeface="Calibri"/>
              <a:cs typeface="Calibri"/>
            </a:endParaRPr>
          </a:p>
          <a:p>
            <a:pPr marL="198120" lvl="1" indent="-185420">
              <a:lnSpc>
                <a:spcPct val="100000"/>
              </a:lnSpc>
              <a:spcBef>
                <a:spcPts val="20"/>
              </a:spcBef>
              <a:buFont typeface="Calibri"/>
              <a:buAutoNum type="alphaLcParenBoth"/>
              <a:tabLst>
                <a:tab pos="198120" algn="l"/>
              </a:tabLst>
            </a:pPr>
            <a:r>
              <a:rPr sz="1100" dirty="0">
                <a:latin typeface="Calibri"/>
                <a:cs typeface="Calibri"/>
              </a:rPr>
              <a:t>Explain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purpose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grey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level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transformation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image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enhancement.</a:t>
            </a:r>
            <a:endParaRPr sz="1100" dirty="0">
              <a:latin typeface="Calibri"/>
              <a:cs typeface="Calibri"/>
            </a:endParaRPr>
          </a:p>
          <a:p>
            <a:pPr marL="12700" marR="721995" lvl="1" indent="191770">
              <a:lnSpc>
                <a:spcPct val="101699"/>
              </a:lnSpc>
              <a:buFont typeface="Calibri"/>
              <a:buAutoNum type="alphaLcParenBoth"/>
              <a:tabLst>
                <a:tab pos="204470" algn="l"/>
              </a:tabLst>
            </a:pPr>
            <a:r>
              <a:rPr sz="1100" dirty="0">
                <a:latin typeface="Calibri"/>
                <a:cs typeface="Calibri"/>
              </a:rPr>
              <a:t>Apply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negative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transformation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s=255-</a:t>
            </a:r>
            <a:r>
              <a:rPr sz="1100" dirty="0">
                <a:latin typeface="Calibri"/>
                <a:cs typeface="Calibri"/>
              </a:rPr>
              <a:t>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pixel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values: r=[50,100,150,200]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dirty="0">
                <a:latin typeface="Calibri"/>
                <a:cs typeface="Calibri"/>
              </a:rPr>
              <a:t>Compute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transformed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values.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 dirty="0">
              <a:latin typeface="Calibri"/>
              <a:cs typeface="Calibri"/>
            </a:endParaRPr>
          </a:p>
          <a:p>
            <a:pPr marL="151130" indent="-138430">
              <a:lnSpc>
                <a:spcPct val="100000"/>
              </a:lnSpc>
              <a:buAutoNum type="arabicPeriod" startAt="2"/>
              <a:tabLst>
                <a:tab pos="151130" algn="l"/>
              </a:tabLst>
            </a:pPr>
            <a:r>
              <a:rPr sz="1100" b="1" dirty="0">
                <a:latin typeface="Calibri"/>
                <a:cs typeface="Calibri"/>
              </a:rPr>
              <a:t>Log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Transformation</a:t>
            </a:r>
            <a:endParaRPr sz="1100" dirty="0">
              <a:latin typeface="Calibri"/>
              <a:cs typeface="Calibri"/>
            </a:endParaRPr>
          </a:p>
          <a:p>
            <a:pPr marL="198120" lvl="1" indent="-185420">
              <a:lnSpc>
                <a:spcPct val="100000"/>
              </a:lnSpc>
              <a:spcBef>
                <a:spcPts val="25"/>
              </a:spcBef>
              <a:buFont typeface="Calibri"/>
              <a:buAutoNum type="alphaLcParenBoth"/>
              <a:tabLst>
                <a:tab pos="198120" algn="l"/>
              </a:tabLst>
            </a:pPr>
            <a:r>
              <a:rPr sz="1100" dirty="0">
                <a:latin typeface="Calibri"/>
                <a:cs typeface="Calibri"/>
              </a:rPr>
              <a:t>Explain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how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log</a:t>
            </a:r>
            <a:r>
              <a:rPr sz="1100" spc="-10" dirty="0">
                <a:latin typeface="Calibri"/>
                <a:cs typeface="Calibri"/>
              </a:rPr>
              <a:t> transformation </a:t>
            </a:r>
            <a:r>
              <a:rPr sz="1100" dirty="0">
                <a:latin typeface="Calibri"/>
                <a:cs typeface="Calibri"/>
              </a:rPr>
              <a:t>enhances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low-</a:t>
            </a:r>
            <a:r>
              <a:rPr sz="1100" spc="-10" dirty="0">
                <a:latin typeface="Calibri"/>
                <a:cs typeface="Calibri"/>
              </a:rPr>
              <a:t>intensity pixels.</a:t>
            </a:r>
            <a:endParaRPr sz="1100" dirty="0">
              <a:latin typeface="Calibri"/>
              <a:cs typeface="Calibri"/>
            </a:endParaRPr>
          </a:p>
          <a:p>
            <a:pPr marL="12700" marR="1490980" lvl="1" indent="191770">
              <a:lnSpc>
                <a:spcPct val="101699"/>
              </a:lnSpc>
              <a:buFont typeface="Calibri"/>
              <a:buAutoNum type="alphaLcParenBoth"/>
              <a:tabLst>
                <a:tab pos="204470" algn="l"/>
              </a:tabLst>
            </a:pPr>
            <a:r>
              <a:rPr sz="1100" dirty="0">
                <a:latin typeface="Calibri"/>
                <a:cs typeface="Calibri"/>
              </a:rPr>
              <a:t>Given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s=clog(1+r),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where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c=10,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compute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for: </a:t>
            </a:r>
            <a:r>
              <a:rPr sz="1100" spc="-10" dirty="0">
                <a:latin typeface="Calibri"/>
                <a:cs typeface="Calibri"/>
              </a:rPr>
              <a:t>r=[0,10,50,100]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 dirty="0">
              <a:latin typeface="Calibri"/>
              <a:cs typeface="Calibri"/>
            </a:endParaRPr>
          </a:p>
          <a:p>
            <a:pPr marL="151130" indent="-138430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151130" algn="l"/>
              </a:tabLst>
            </a:pPr>
            <a:r>
              <a:rPr sz="1100" b="1" spc="-10" dirty="0">
                <a:latin typeface="Calibri"/>
                <a:cs typeface="Calibri"/>
              </a:rPr>
              <a:t>Histogram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Processing</a:t>
            </a:r>
            <a:endParaRPr sz="1100" dirty="0">
              <a:latin typeface="Calibri"/>
              <a:cs typeface="Calibri"/>
            </a:endParaRPr>
          </a:p>
          <a:p>
            <a:pPr marL="198120" lvl="1" indent="-185420">
              <a:lnSpc>
                <a:spcPct val="100000"/>
              </a:lnSpc>
              <a:spcBef>
                <a:spcPts val="20"/>
              </a:spcBef>
              <a:buFont typeface="Calibri"/>
              <a:buAutoNum type="alphaLcParenBoth"/>
              <a:tabLst>
                <a:tab pos="198120" algn="l"/>
              </a:tabLst>
            </a:pPr>
            <a:r>
              <a:rPr sz="1100" dirty="0">
                <a:latin typeface="Calibri"/>
                <a:cs typeface="Calibri"/>
              </a:rPr>
              <a:t>Explain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role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histogram equalization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0" dirty="0">
                <a:latin typeface="Calibri"/>
                <a:cs typeface="Calibri"/>
              </a:rPr>
              <a:t> contrast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enhancement.</a:t>
            </a:r>
            <a:endParaRPr sz="1100" dirty="0">
              <a:latin typeface="Calibri"/>
              <a:cs typeface="Calibri"/>
            </a:endParaRPr>
          </a:p>
          <a:p>
            <a:pPr marL="204470" lvl="1" indent="-191770">
              <a:lnSpc>
                <a:spcPct val="100000"/>
              </a:lnSpc>
              <a:spcBef>
                <a:spcPts val="25"/>
              </a:spcBef>
              <a:buFont typeface="Calibri"/>
              <a:buAutoNum type="alphaLcParenBoth"/>
              <a:tabLst>
                <a:tab pos="204470" algn="l"/>
              </a:tabLst>
            </a:pPr>
            <a:r>
              <a:rPr sz="1100" dirty="0">
                <a:latin typeface="Calibri"/>
                <a:cs typeface="Calibri"/>
              </a:rPr>
              <a:t>Given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3-</a:t>
            </a:r>
            <a:r>
              <a:rPr sz="1100" dirty="0">
                <a:latin typeface="Calibri"/>
                <a:cs typeface="Calibri"/>
              </a:rPr>
              <a:t>bit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image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histogram:</a:t>
            </a:r>
            <a:endParaRPr sz="1100" dirty="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2175" y="3665320"/>
          <a:ext cx="1123315" cy="106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645">
                <a:tc>
                  <a:txBody>
                    <a:bodyPr/>
                    <a:lstStyle/>
                    <a:p>
                      <a:pPr marL="31750">
                        <a:lnSpc>
                          <a:spcPts val="1045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Intensit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spc="-50" dirty="0">
                          <a:latin typeface="Calibri"/>
                          <a:cs typeface="Calibri"/>
                        </a:rPr>
                        <a:t>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045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Frequenc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spc="-50" dirty="0">
                          <a:latin typeface="Calibri"/>
                          <a:cs typeface="Calibri"/>
                        </a:rPr>
                        <a:t>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L="3175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L="3175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L="3175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marL="31750">
                        <a:lnSpc>
                          <a:spcPts val="119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19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1700" y="4726613"/>
            <a:ext cx="3877310" cy="2580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Compute the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cumulative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distribution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 </a:t>
            </a:r>
            <a:r>
              <a:rPr sz="1100" spc="-10" dirty="0">
                <a:latin typeface="Calibri"/>
                <a:cs typeface="Calibri"/>
              </a:rPr>
              <a:t>equalized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intensity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values.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 dirty="0">
              <a:latin typeface="Calibri"/>
              <a:cs typeface="Calibri"/>
            </a:endParaRPr>
          </a:p>
          <a:p>
            <a:pPr marL="151130" indent="-138430">
              <a:lnSpc>
                <a:spcPct val="100000"/>
              </a:lnSpc>
              <a:buAutoNum type="arabicPeriod" startAt="4"/>
              <a:tabLst>
                <a:tab pos="151130" algn="l"/>
              </a:tabLst>
            </a:pPr>
            <a:r>
              <a:rPr sz="1100" b="1" dirty="0">
                <a:latin typeface="Calibri"/>
                <a:cs typeface="Calibri"/>
              </a:rPr>
              <a:t>Spatial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Filtering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(Smoothing)</a:t>
            </a:r>
            <a:endParaRPr sz="1100" dirty="0">
              <a:latin typeface="Calibri"/>
              <a:cs typeface="Calibri"/>
            </a:endParaRPr>
          </a:p>
          <a:p>
            <a:pPr marL="198120" lvl="1" indent="-185420">
              <a:lnSpc>
                <a:spcPct val="100000"/>
              </a:lnSpc>
              <a:spcBef>
                <a:spcPts val="25"/>
              </a:spcBef>
              <a:buFont typeface="Calibri"/>
              <a:buAutoNum type="alphaLcParenBoth"/>
              <a:tabLst>
                <a:tab pos="198120" algn="l"/>
              </a:tabLst>
            </a:pPr>
            <a:r>
              <a:rPr sz="1100" dirty="0">
                <a:latin typeface="Calibri"/>
                <a:cs typeface="Calibri"/>
              </a:rPr>
              <a:t>Explain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purpose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spatial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filtering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smoothing.</a:t>
            </a:r>
            <a:endParaRPr sz="1100" dirty="0">
              <a:latin typeface="Calibri"/>
              <a:cs typeface="Calibri"/>
            </a:endParaRPr>
          </a:p>
          <a:p>
            <a:pPr marL="12700" marR="765810" lvl="1" indent="191770">
              <a:lnSpc>
                <a:spcPct val="101699"/>
              </a:lnSpc>
              <a:buFont typeface="Calibri"/>
              <a:buAutoNum type="alphaLcParenBoth"/>
              <a:tabLst>
                <a:tab pos="204470" algn="l"/>
              </a:tabLst>
            </a:pPr>
            <a:r>
              <a:rPr sz="1100" dirty="0">
                <a:latin typeface="Calibri"/>
                <a:cs typeface="Calibri"/>
              </a:rPr>
              <a:t>Apply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3×3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averaging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filter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following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region: </a:t>
            </a:r>
            <a:r>
              <a:rPr sz="1100" dirty="0">
                <a:latin typeface="Calibri"/>
                <a:cs typeface="Calibri"/>
              </a:rPr>
              <a:t>10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20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30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20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30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40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30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40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50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latin typeface="Calibri"/>
                <a:cs typeface="Calibri"/>
              </a:rPr>
              <a:t>Compute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new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center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pixel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value.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 dirty="0">
              <a:latin typeface="Calibri"/>
              <a:cs typeface="Calibri"/>
            </a:endParaRPr>
          </a:p>
          <a:p>
            <a:pPr marL="151130" indent="-138430">
              <a:lnSpc>
                <a:spcPct val="100000"/>
              </a:lnSpc>
              <a:buAutoNum type="arabicPeriod" startAt="5"/>
              <a:tabLst>
                <a:tab pos="151130" algn="l"/>
              </a:tabLst>
            </a:pPr>
            <a:r>
              <a:rPr sz="1100" b="1" dirty="0">
                <a:latin typeface="Calibri"/>
                <a:cs typeface="Calibri"/>
              </a:rPr>
              <a:t>Spatial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Filtering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(Sharpening)</a:t>
            </a:r>
            <a:endParaRPr sz="1100" dirty="0">
              <a:latin typeface="Calibri"/>
              <a:cs typeface="Calibri"/>
            </a:endParaRPr>
          </a:p>
          <a:p>
            <a:pPr marL="198120" lvl="1" indent="-185420">
              <a:lnSpc>
                <a:spcPct val="100000"/>
              </a:lnSpc>
              <a:spcBef>
                <a:spcPts val="25"/>
              </a:spcBef>
              <a:buFont typeface="Calibri"/>
              <a:buAutoNum type="alphaLcParenBoth"/>
              <a:tabLst>
                <a:tab pos="198120" algn="l"/>
              </a:tabLst>
            </a:pPr>
            <a:r>
              <a:rPr sz="1100" dirty="0">
                <a:latin typeface="Calibri"/>
                <a:cs typeface="Calibri"/>
              </a:rPr>
              <a:t>Explain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how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sharpening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enhances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image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details.</a:t>
            </a:r>
            <a:endParaRPr sz="1100" dirty="0">
              <a:latin typeface="Calibri"/>
              <a:cs typeface="Calibri"/>
            </a:endParaRPr>
          </a:p>
          <a:p>
            <a:pPr marL="204470" lvl="1" indent="-191770">
              <a:lnSpc>
                <a:spcPct val="100000"/>
              </a:lnSpc>
              <a:spcBef>
                <a:spcPts val="20"/>
              </a:spcBef>
              <a:buFont typeface="Calibri"/>
              <a:buAutoNum type="alphaLcParenBoth"/>
              <a:tabLst>
                <a:tab pos="204470" algn="l"/>
              </a:tabLst>
            </a:pPr>
            <a:r>
              <a:rPr sz="1100" dirty="0">
                <a:latin typeface="Calibri"/>
                <a:cs typeface="Calibri"/>
              </a:rPr>
              <a:t>Apply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Laplacian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mask: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492125" algn="l"/>
                <a:tab pos="1050925" algn="l"/>
                <a:tab pos="1920239" algn="l"/>
              </a:tabLst>
            </a:pPr>
            <a:r>
              <a:rPr sz="1100" dirty="0">
                <a:latin typeface="Calibri"/>
                <a:cs typeface="Calibri"/>
              </a:rPr>
              <a:t>[0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-</a:t>
            </a:r>
            <a:r>
              <a:rPr sz="1100" spc="-50" dirty="0">
                <a:latin typeface="Calibri"/>
                <a:cs typeface="Calibri"/>
              </a:rPr>
              <a:t>1</a:t>
            </a:r>
            <a:r>
              <a:rPr sz="1100" dirty="0">
                <a:latin typeface="Calibri"/>
                <a:cs typeface="Calibri"/>
              </a:rPr>
              <a:t>	0},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{-</a:t>
            </a:r>
            <a:r>
              <a:rPr sz="1100" spc="-50" dirty="0">
                <a:latin typeface="Calibri"/>
                <a:cs typeface="Calibri"/>
              </a:rPr>
              <a:t>1</a:t>
            </a:r>
            <a:r>
              <a:rPr sz="1100" dirty="0">
                <a:latin typeface="Calibri"/>
                <a:cs typeface="Calibri"/>
              </a:rPr>
              <a:t>	4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-</a:t>
            </a:r>
            <a:r>
              <a:rPr sz="1100" dirty="0">
                <a:latin typeface="Calibri"/>
                <a:cs typeface="Calibri"/>
              </a:rPr>
              <a:t>1],</a:t>
            </a:r>
            <a:r>
              <a:rPr sz="1100" spc="4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{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0</a:t>
            </a:r>
            <a:r>
              <a:rPr sz="1100" spc="-10" dirty="0">
                <a:latin typeface="Calibri"/>
                <a:cs typeface="Calibri"/>
              </a:rPr>
              <a:t> -</a:t>
            </a:r>
            <a:r>
              <a:rPr sz="1100" spc="-50" dirty="0">
                <a:latin typeface="Calibri"/>
                <a:cs typeface="Calibri"/>
              </a:rPr>
              <a:t>1</a:t>
            </a:r>
            <a:r>
              <a:rPr sz="1100" dirty="0">
                <a:latin typeface="Calibri"/>
                <a:cs typeface="Calibri"/>
              </a:rPr>
              <a:t>	0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]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matrix: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dirty="0">
                <a:latin typeface="Calibri"/>
                <a:cs typeface="Calibri"/>
              </a:rPr>
              <a:t>10</a:t>
            </a:r>
            <a:r>
              <a:rPr sz="1100" spc="4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</a:t>
            </a:r>
            <a:r>
              <a:rPr sz="1100" spc="4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</a:t>
            </a:r>
            <a:r>
              <a:rPr sz="1100" spc="4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20</a:t>
            </a:r>
            <a:r>
              <a:rPr sz="1100" spc="4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</a:t>
            </a:r>
            <a:r>
              <a:rPr sz="1100" spc="4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</a:t>
            </a:r>
            <a:r>
              <a:rPr sz="1100" spc="47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10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latin typeface="Calibri"/>
                <a:cs typeface="Calibri"/>
              </a:rPr>
              <a:t>Compute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output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center.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7E54F4-AB97-B87B-0265-9FF440FC1839}"/>
                  </a:ext>
                </a:extLst>
              </p:cNvPr>
              <p:cNvSpPr txBox="1"/>
              <p:nvPr/>
            </p:nvSpPr>
            <p:spPr>
              <a:xfrm>
                <a:off x="685800" y="1888141"/>
                <a:ext cx="5486400" cy="3870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Grey Level Transformation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Purpose of Grey Level Transformation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Grey level transformation is used in </a:t>
                </a: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 enhancement</a:t>
                </a: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modify the intensity values of pixels. It helps to: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Improve image contrast 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Highlight important details 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Make dark regions brighter 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Make bright regions darker 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Improve the visual quality of an image 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Negative Transformation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=255−</m:t>
                      </m:r>
                      <m:r>
                        <a:rPr lang="en-IN" sz="11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pixel values: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150</m:t>
                          </m:r>
                        </m:e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200</m:t>
                          </m:r>
                        </m:e>
                      </m:d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7E54F4-AB97-B87B-0265-9FF440FC1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888141"/>
                <a:ext cx="5486400" cy="38706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402B8CB-7394-1D6C-CD27-956D372FF715}"/>
              </a:ext>
            </a:extLst>
          </p:cNvPr>
          <p:cNvSpPr txBox="1"/>
          <p:nvPr/>
        </p:nvSpPr>
        <p:spPr>
          <a:xfrm>
            <a:off x="609600" y="662228"/>
            <a:ext cx="6096000" cy="1225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1130" indent="-13843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51130" algn="l"/>
              </a:tabLst>
            </a:pPr>
            <a:r>
              <a:rPr lang="en-US" sz="1100" b="1" dirty="0">
                <a:latin typeface="Calibri"/>
                <a:cs typeface="Calibri"/>
              </a:rPr>
              <a:t>Grey</a:t>
            </a:r>
            <a:r>
              <a:rPr lang="en-US" sz="1100" b="1" spc="-50" dirty="0">
                <a:latin typeface="Calibri"/>
                <a:cs typeface="Calibri"/>
              </a:rPr>
              <a:t> </a:t>
            </a:r>
            <a:r>
              <a:rPr lang="en-US" sz="1100" b="1" dirty="0">
                <a:latin typeface="Calibri"/>
                <a:cs typeface="Calibri"/>
              </a:rPr>
              <a:t>Level</a:t>
            </a:r>
            <a:r>
              <a:rPr lang="en-US" sz="1100" b="1" spc="-50" dirty="0">
                <a:latin typeface="Calibri"/>
                <a:cs typeface="Calibri"/>
              </a:rPr>
              <a:t> </a:t>
            </a:r>
            <a:r>
              <a:rPr lang="en-US" sz="1100" b="1" spc="-10" dirty="0">
                <a:latin typeface="Calibri"/>
                <a:cs typeface="Calibri"/>
              </a:rPr>
              <a:t>Transformation</a:t>
            </a:r>
            <a:endParaRPr lang="en-US" sz="1100" dirty="0">
              <a:latin typeface="Calibri"/>
              <a:cs typeface="Calibri"/>
            </a:endParaRPr>
          </a:p>
          <a:p>
            <a:pPr marL="198120" lvl="1" indent="-185420">
              <a:lnSpc>
                <a:spcPct val="100000"/>
              </a:lnSpc>
              <a:spcBef>
                <a:spcPts val="20"/>
              </a:spcBef>
              <a:buFont typeface="Calibri"/>
              <a:buAutoNum type="alphaLcParenBoth"/>
              <a:tabLst>
                <a:tab pos="198120" algn="l"/>
              </a:tabLst>
            </a:pPr>
            <a:r>
              <a:rPr lang="en-US" sz="1100" dirty="0">
                <a:latin typeface="Calibri"/>
                <a:cs typeface="Calibri"/>
              </a:rPr>
              <a:t>Explain</a:t>
            </a:r>
            <a:r>
              <a:rPr lang="en-US" sz="1100" spc="-30" dirty="0">
                <a:latin typeface="Calibri"/>
                <a:cs typeface="Calibri"/>
              </a:rPr>
              <a:t> </a:t>
            </a:r>
            <a:r>
              <a:rPr lang="en-US" sz="1100" dirty="0">
                <a:latin typeface="Calibri"/>
                <a:cs typeface="Calibri"/>
              </a:rPr>
              <a:t>the</a:t>
            </a:r>
            <a:r>
              <a:rPr lang="en-US" sz="1100" spc="-30" dirty="0">
                <a:latin typeface="Calibri"/>
                <a:cs typeface="Calibri"/>
              </a:rPr>
              <a:t> </a:t>
            </a:r>
            <a:r>
              <a:rPr lang="en-US" sz="1100" dirty="0">
                <a:latin typeface="Calibri"/>
                <a:cs typeface="Calibri"/>
              </a:rPr>
              <a:t>purpose</a:t>
            </a:r>
            <a:r>
              <a:rPr lang="en-US" sz="1100" spc="-30" dirty="0">
                <a:latin typeface="Calibri"/>
                <a:cs typeface="Calibri"/>
              </a:rPr>
              <a:t> </a:t>
            </a:r>
            <a:r>
              <a:rPr lang="en-US" sz="1100" dirty="0">
                <a:latin typeface="Calibri"/>
                <a:cs typeface="Calibri"/>
              </a:rPr>
              <a:t>of</a:t>
            </a:r>
            <a:r>
              <a:rPr lang="en-US" sz="1100" spc="-25" dirty="0">
                <a:latin typeface="Calibri"/>
                <a:cs typeface="Calibri"/>
              </a:rPr>
              <a:t> </a:t>
            </a:r>
            <a:r>
              <a:rPr lang="en-US" sz="1100" dirty="0">
                <a:latin typeface="Calibri"/>
                <a:cs typeface="Calibri"/>
              </a:rPr>
              <a:t>grey</a:t>
            </a:r>
            <a:r>
              <a:rPr lang="en-US" sz="1100" spc="-30" dirty="0">
                <a:latin typeface="Calibri"/>
                <a:cs typeface="Calibri"/>
              </a:rPr>
              <a:t> </a:t>
            </a:r>
            <a:r>
              <a:rPr lang="en-US" sz="1100" dirty="0">
                <a:latin typeface="Calibri"/>
                <a:cs typeface="Calibri"/>
              </a:rPr>
              <a:t>level</a:t>
            </a:r>
            <a:r>
              <a:rPr lang="en-US" sz="1100" spc="-30" dirty="0">
                <a:latin typeface="Calibri"/>
                <a:cs typeface="Calibri"/>
              </a:rPr>
              <a:t> </a:t>
            </a:r>
            <a:r>
              <a:rPr lang="en-US" sz="1100" spc="-10" dirty="0">
                <a:latin typeface="Calibri"/>
                <a:cs typeface="Calibri"/>
              </a:rPr>
              <a:t>transformation</a:t>
            </a:r>
            <a:r>
              <a:rPr lang="en-US" sz="1100" spc="-25" dirty="0">
                <a:latin typeface="Calibri"/>
                <a:cs typeface="Calibri"/>
              </a:rPr>
              <a:t> </a:t>
            </a:r>
            <a:r>
              <a:rPr lang="en-US" sz="1100" dirty="0">
                <a:latin typeface="Calibri"/>
                <a:cs typeface="Calibri"/>
              </a:rPr>
              <a:t>in</a:t>
            </a:r>
            <a:r>
              <a:rPr lang="en-US" sz="1100" spc="-30" dirty="0">
                <a:latin typeface="Calibri"/>
                <a:cs typeface="Calibri"/>
              </a:rPr>
              <a:t> </a:t>
            </a:r>
            <a:r>
              <a:rPr lang="en-US" sz="1100" dirty="0">
                <a:latin typeface="Calibri"/>
                <a:cs typeface="Calibri"/>
              </a:rPr>
              <a:t>image</a:t>
            </a:r>
            <a:r>
              <a:rPr lang="en-US" sz="1100" spc="-30" dirty="0">
                <a:latin typeface="Calibri"/>
                <a:cs typeface="Calibri"/>
              </a:rPr>
              <a:t> </a:t>
            </a:r>
            <a:r>
              <a:rPr lang="en-US" sz="1100" spc="-10" dirty="0">
                <a:latin typeface="Calibri"/>
                <a:cs typeface="Calibri"/>
              </a:rPr>
              <a:t>enhancement.</a:t>
            </a:r>
            <a:endParaRPr lang="en-US" sz="1100" dirty="0">
              <a:latin typeface="Calibri"/>
              <a:cs typeface="Calibri"/>
            </a:endParaRPr>
          </a:p>
          <a:p>
            <a:pPr marL="12700" marR="721995" lvl="1" indent="191770">
              <a:lnSpc>
                <a:spcPct val="101699"/>
              </a:lnSpc>
              <a:buFont typeface="Calibri"/>
              <a:buAutoNum type="alphaLcParenBoth"/>
              <a:tabLst>
                <a:tab pos="204470" algn="l"/>
              </a:tabLst>
            </a:pPr>
            <a:r>
              <a:rPr lang="en-US" sz="1100" dirty="0">
                <a:latin typeface="Calibri"/>
                <a:cs typeface="Calibri"/>
              </a:rPr>
              <a:t>Apply</a:t>
            </a:r>
            <a:r>
              <a:rPr lang="en-US" sz="1100" spc="-20" dirty="0">
                <a:latin typeface="Calibri"/>
                <a:cs typeface="Calibri"/>
              </a:rPr>
              <a:t> </a:t>
            </a:r>
            <a:r>
              <a:rPr lang="en-US" sz="1100" dirty="0">
                <a:latin typeface="Calibri"/>
                <a:cs typeface="Calibri"/>
              </a:rPr>
              <a:t>a</a:t>
            </a:r>
            <a:r>
              <a:rPr lang="en-US" sz="1100" spc="-15" dirty="0">
                <a:latin typeface="Calibri"/>
                <a:cs typeface="Calibri"/>
              </a:rPr>
              <a:t> </a:t>
            </a:r>
            <a:r>
              <a:rPr lang="en-US" sz="1100" spc="-10" dirty="0">
                <a:latin typeface="Calibri"/>
                <a:cs typeface="Calibri"/>
              </a:rPr>
              <a:t>negative</a:t>
            </a:r>
            <a:r>
              <a:rPr lang="en-US" sz="1100" spc="-20" dirty="0">
                <a:latin typeface="Calibri"/>
                <a:cs typeface="Calibri"/>
              </a:rPr>
              <a:t> </a:t>
            </a:r>
            <a:r>
              <a:rPr lang="en-US" sz="1100" spc="-10" dirty="0">
                <a:latin typeface="Calibri"/>
                <a:cs typeface="Calibri"/>
              </a:rPr>
              <a:t>transformation</a:t>
            </a:r>
            <a:r>
              <a:rPr lang="en-US" sz="1100" spc="-15" dirty="0">
                <a:latin typeface="Calibri"/>
                <a:cs typeface="Calibri"/>
              </a:rPr>
              <a:t> </a:t>
            </a:r>
            <a:r>
              <a:rPr lang="en-US" sz="1100" spc="-10" dirty="0">
                <a:latin typeface="Calibri"/>
                <a:cs typeface="Calibri"/>
              </a:rPr>
              <a:t>s=255-</a:t>
            </a:r>
            <a:r>
              <a:rPr lang="en-US" sz="1100" dirty="0">
                <a:latin typeface="Calibri"/>
                <a:cs typeface="Calibri"/>
              </a:rPr>
              <a:t>r</a:t>
            </a:r>
            <a:r>
              <a:rPr lang="en-US" sz="1100" spc="-20" dirty="0">
                <a:latin typeface="Calibri"/>
                <a:cs typeface="Calibri"/>
              </a:rPr>
              <a:t> </a:t>
            </a:r>
            <a:r>
              <a:rPr lang="en-US" sz="1100" dirty="0">
                <a:latin typeface="Calibri"/>
                <a:cs typeface="Calibri"/>
              </a:rPr>
              <a:t>to</a:t>
            </a:r>
            <a:r>
              <a:rPr lang="en-US" sz="1100" spc="-15" dirty="0">
                <a:latin typeface="Calibri"/>
                <a:cs typeface="Calibri"/>
              </a:rPr>
              <a:t> </a:t>
            </a:r>
            <a:r>
              <a:rPr lang="en-US" sz="1100" dirty="0">
                <a:latin typeface="Calibri"/>
                <a:cs typeface="Calibri"/>
              </a:rPr>
              <a:t>the</a:t>
            </a:r>
            <a:r>
              <a:rPr lang="en-US" sz="1100" spc="-20" dirty="0">
                <a:latin typeface="Calibri"/>
                <a:cs typeface="Calibri"/>
              </a:rPr>
              <a:t> </a:t>
            </a:r>
            <a:r>
              <a:rPr lang="en-US" sz="1100" dirty="0">
                <a:latin typeface="Calibri"/>
                <a:cs typeface="Calibri"/>
              </a:rPr>
              <a:t>pixel</a:t>
            </a:r>
            <a:r>
              <a:rPr lang="en-US" sz="1100" spc="-15" dirty="0">
                <a:latin typeface="Calibri"/>
                <a:cs typeface="Calibri"/>
              </a:rPr>
              <a:t> </a:t>
            </a:r>
            <a:r>
              <a:rPr lang="en-US" sz="1100" spc="-10" dirty="0">
                <a:latin typeface="Calibri"/>
                <a:cs typeface="Calibri"/>
              </a:rPr>
              <a:t>values: r=[50,100,150,200]</a:t>
            </a:r>
          </a:p>
          <a:p>
            <a:pPr marL="12700" marR="721995" lvl="1">
              <a:lnSpc>
                <a:spcPct val="101699"/>
              </a:lnSpc>
              <a:tabLst>
                <a:tab pos="204470" algn="l"/>
              </a:tabLst>
            </a:pPr>
            <a:r>
              <a:rPr lang="en-IN" sz="1100" dirty="0">
                <a:latin typeface="Calibri"/>
                <a:cs typeface="Calibri"/>
              </a:rPr>
              <a:t>Compute</a:t>
            </a:r>
            <a:r>
              <a:rPr lang="en-IN" sz="1100" spc="-30" dirty="0">
                <a:latin typeface="Calibri"/>
                <a:cs typeface="Calibri"/>
              </a:rPr>
              <a:t> </a:t>
            </a:r>
            <a:r>
              <a:rPr lang="en-IN" sz="1100" dirty="0">
                <a:latin typeface="Calibri"/>
                <a:cs typeface="Calibri"/>
              </a:rPr>
              <a:t>the</a:t>
            </a:r>
            <a:r>
              <a:rPr lang="en-IN" sz="1100" spc="-25" dirty="0">
                <a:latin typeface="Calibri"/>
                <a:cs typeface="Calibri"/>
              </a:rPr>
              <a:t> </a:t>
            </a:r>
            <a:r>
              <a:rPr lang="en-IN" sz="1100" spc="-10" dirty="0">
                <a:latin typeface="Calibri"/>
                <a:cs typeface="Calibri"/>
              </a:rPr>
              <a:t>transformed</a:t>
            </a:r>
            <a:r>
              <a:rPr lang="en-IN" sz="1100" spc="-30" dirty="0">
                <a:latin typeface="Calibri"/>
                <a:cs typeface="Calibri"/>
              </a:rPr>
              <a:t> </a:t>
            </a:r>
            <a:r>
              <a:rPr lang="en-IN" sz="1100" spc="-10" dirty="0">
                <a:latin typeface="Calibri"/>
                <a:cs typeface="Calibri"/>
              </a:rPr>
              <a:t>values.</a:t>
            </a:r>
            <a:endParaRPr lang="en-IN" sz="1100" dirty="0">
              <a:latin typeface="Calibri"/>
              <a:cs typeface="Calibri"/>
            </a:endParaRPr>
          </a:p>
          <a:p>
            <a:pPr marL="12700" marR="721995" lvl="1" indent="191770">
              <a:lnSpc>
                <a:spcPct val="101699"/>
              </a:lnSpc>
              <a:buFont typeface="Calibri"/>
              <a:buAutoNum type="alphaLcParenBoth"/>
              <a:tabLst>
                <a:tab pos="204470" algn="l"/>
              </a:tabLst>
            </a:pPr>
            <a:endParaRPr lang="en-US" sz="1100" dirty="0">
              <a:latin typeface="Calibri"/>
              <a:cs typeface="Calibri"/>
            </a:endParaRP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C8F82F-7494-D9EE-C4A2-D01E46462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072964"/>
              </p:ext>
            </p:extLst>
          </p:nvPr>
        </p:nvGraphicFramePr>
        <p:xfrm>
          <a:off x="609600" y="6096000"/>
          <a:ext cx="6850062" cy="1728470"/>
        </p:xfrm>
        <a:graphic>
          <a:graphicData uri="http://schemas.openxmlformats.org/drawingml/2006/table">
            <a:tbl>
              <a:tblPr/>
              <a:tblGrid>
                <a:gridCol w="2283354">
                  <a:extLst>
                    <a:ext uri="{9D8B030D-6E8A-4147-A177-3AD203B41FA5}">
                      <a16:colId xmlns:a16="http://schemas.microsoft.com/office/drawing/2014/main" val="358422724"/>
                    </a:ext>
                  </a:extLst>
                </a:gridCol>
                <a:gridCol w="2283354">
                  <a:extLst>
                    <a:ext uri="{9D8B030D-6E8A-4147-A177-3AD203B41FA5}">
                      <a16:colId xmlns:a16="http://schemas.microsoft.com/office/drawing/2014/main" val="1673891626"/>
                    </a:ext>
                  </a:extLst>
                </a:gridCol>
                <a:gridCol w="2283354">
                  <a:extLst>
                    <a:ext uri="{9D8B030D-6E8A-4147-A177-3AD203B41FA5}">
                      <a16:colId xmlns:a16="http://schemas.microsoft.com/office/drawing/2014/main" val="1582646846"/>
                    </a:ext>
                  </a:extLst>
                </a:gridCol>
              </a:tblGrid>
              <a:tr h="334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(r)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(s)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526627"/>
                  </a:ext>
                </a:extLst>
              </a:tr>
              <a:tr h="334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(255-50)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205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201015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(255-100)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155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439801"/>
                  </a:ext>
                </a:extLst>
              </a:tr>
              <a:tr h="334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(255-150)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3846611"/>
                  </a:ext>
                </a:extLst>
              </a:tr>
              <a:tr h="334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(255-200)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13283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401922-1100-F2CF-503D-A04BBDDF039E}"/>
                  </a:ext>
                </a:extLst>
              </p:cNvPr>
              <p:cNvSpPr txBox="1"/>
              <p:nvPr/>
            </p:nvSpPr>
            <p:spPr>
              <a:xfrm>
                <a:off x="1143000" y="8457846"/>
                <a:ext cx="3886200" cy="4887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 Answer: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IN" sz="11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sepChr m:val=","/>
                              <m:ctrlPr>
                                <a:rPr lang="en-IN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100" i="0">
                                  <a:latin typeface="Cambria Math" panose="02040503050406030204" pitchFamily="18" charset="0"/>
                                </a:rPr>
                                <m:t>205</m:t>
                              </m:r>
                            </m:e>
                            <m:e>
                              <m:r>
                                <a:rPr lang="en-IN" sz="1100" i="0">
                                  <a:latin typeface="Cambria Math" panose="02040503050406030204" pitchFamily="18" charset="0"/>
                                </a:rPr>
                                <m:t>155</m:t>
                              </m:r>
                            </m:e>
                            <m:e>
                              <m:r>
                                <a:rPr lang="en-IN" sz="1100" i="0">
                                  <a:latin typeface="Cambria Math" panose="02040503050406030204" pitchFamily="18" charset="0"/>
                                </a:rPr>
                                <m:t>105</m:t>
                              </m:r>
                            </m:e>
                            <m:e>
                              <m:r>
                                <a:rPr lang="en-IN" sz="1100" i="0">
                                  <a:latin typeface="Cambria Math" panose="02040503050406030204" pitchFamily="18" charset="0"/>
                                </a:rPr>
                                <m:t>55</m:t>
                              </m:r>
                            </m:e>
                          </m:d>
                        </m:e>
                      </m:borderBox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401922-1100-F2CF-503D-A04BBDDF0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8457846"/>
                <a:ext cx="3886200" cy="4887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1547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154D5B-63C7-B1D2-0A36-C9364F1DB384}"/>
                  </a:ext>
                </a:extLst>
              </p:cNvPr>
              <p:cNvSpPr txBox="1"/>
              <p:nvPr/>
            </p:nvSpPr>
            <p:spPr>
              <a:xfrm>
                <a:off x="762000" y="2438400"/>
                <a:ext cx="5072742" cy="62730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Log Transformation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Explanation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 transformation is used to enhance </a:t>
                </a: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low-intensity pixels</a:t>
                </a: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It expands the range of dark pixel values and compresses the range of high-intensity values.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transformation is: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1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m:rPr>
                          <m:sty m:val="p"/>
                        </m:rPr>
                        <a:rPr lang="en-IN" sz="1100" i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IN" sz="11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Given: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m:rPr>
                          <m:sty m:val="p"/>
                        </m:rPr>
                        <a:rPr lang="en-IN" sz="1100" i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IN" sz="11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common logarithm,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10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1100" i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11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1100" i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m:rPr>
                          <m:sty m:val="p"/>
                        </m:rPr>
                        <a:rPr lang="en-IN" sz="1100" i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1+0</m:t>
                          </m:r>
                        </m:e>
                      </m:d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m:rPr>
                          <m:sty m:val="p"/>
                        </m:rPr>
                        <a:rPr lang="en-IN" sz="1100" i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11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11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1100" i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m:rPr>
                          <m:sty m:val="p"/>
                        </m:rPr>
                        <a:rPr lang="en-IN" sz="1100" i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</m:d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≈10</m:t>
                      </m:r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1.0414</m:t>
                          </m:r>
                        </m:e>
                      </m:d>
                      <m:r>
                        <a:rPr lang="en-IN" sz="1100" i="0">
                          <a:latin typeface="Cambria Math" panose="02040503050406030204" pitchFamily="18" charset="0"/>
                        </a:rPr>
                        <m:t>=10.414</m:t>
                      </m:r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11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1100" i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m:rPr>
                          <m:sty m:val="p"/>
                        </m:rPr>
                        <a:rPr lang="en-IN" sz="1100" i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51</m:t>
                          </m:r>
                        </m:e>
                      </m:d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≈10</m:t>
                      </m:r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1.7076</m:t>
                          </m:r>
                        </m:e>
                      </m:d>
                      <m:r>
                        <a:rPr lang="en-IN" sz="1100" i="0">
                          <a:latin typeface="Cambria Math" panose="02040503050406030204" pitchFamily="18" charset="0"/>
                        </a:rPr>
                        <m:t>=17.076</m:t>
                      </m:r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11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1100" i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m:rPr>
                          <m:sty m:val="p"/>
                        </m:rPr>
                        <a:rPr lang="en-IN" sz="1100" i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101</m:t>
                          </m:r>
                        </m:e>
                      </m:d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≈10</m:t>
                      </m:r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2.0043</m:t>
                          </m:r>
                        </m:e>
                      </m:d>
                      <m:r>
                        <a:rPr lang="en-IN" sz="1100" i="0">
                          <a:latin typeface="Cambria Math" panose="02040503050406030204" pitchFamily="18" charset="0"/>
                        </a:rPr>
                        <m:t>=20.043</m:t>
                      </m:r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 Answer: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IN" sz="11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≈</m:t>
                          </m:r>
                          <m:d>
                            <m:dPr>
                              <m:begChr m:val="["/>
                              <m:endChr m:val="]"/>
                              <m:sepChr m:val=","/>
                              <m:ctrlPr>
                                <a:rPr lang="en-IN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1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1100" b="0" i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  </m:t>
                              </m:r>
                            </m:e>
                            <m:e>
                              <m:r>
                                <a:rPr lang="en-IN" sz="1100" b="0" i="0">
                                  <a:latin typeface="Cambria Math" panose="02040503050406030204" pitchFamily="18" charset="0"/>
                                </a:rPr>
                                <m:t>10.414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1100" b="0" i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  </m:t>
                              </m:r>
                              <m:r>
                                <a:rPr lang="en-IN" sz="1100" b="0" i="0">
                                  <a:latin typeface="Cambria Math" panose="02040503050406030204" pitchFamily="18" charset="0"/>
                                </a:rPr>
                                <m:t>17.076</m:t>
                              </m:r>
                              <m:r>
                                <m:rPr>
                                  <m:nor/>
                                </m:rPr>
                                <a:rPr lang="en-IN" sz="1100" b="0" i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  </m:t>
                              </m:r>
                              <m:r>
                                <a:rPr lang="en-IN" sz="1100" b="0" i="0">
                                  <a:latin typeface="Cambria Math" panose="02040503050406030204" pitchFamily="18" charset="0"/>
                                </a:rPr>
                                <m:t>20.043</m:t>
                              </m:r>
                            </m:e>
                          </m:d>
                        </m:e>
                      </m:borderBox>
                    </m:oMath>
                  </m:oMathPara>
                </a14:m>
                <a:endParaRPr lang="en-IN" sz="1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154D5B-63C7-B1D2-0A36-C9364F1DB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438400"/>
                <a:ext cx="5072742" cy="62730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D3E0780-6A55-8810-00BD-2EB5C5B73FC4}"/>
              </a:ext>
            </a:extLst>
          </p:cNvPr>
          <p:cNvSpPr txBox="1"/>
          <p:nvPr/>
        </p:nvSpPr>
        <p:spPr>
          <a:xfrm>
            <a:off x="762000" y="838200"/>
            <a:ext cx="5072742" cy="1053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1130" indent="-138430">
              <a:lnSpc>
                <a:spcPct val="100000"/>
              </a:lnSpc>
              <a:buAutoNum type="arabicPeriod" startAt="2"/>
              <a:tabLst>
                <a:tab pos="151130" algn="l"/>
              </a:tabLst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11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120" lvl="1" indent="-185420">
              <a:lnSpc>
                <a:spcPct val="100000"/>
              </a:lnSpc>
              <a:spcBef>
                <a:spcPts val="25"/>
              </a:spcBef>
              <a:buFont typeface="Calibri"/>
              <a:buAutoNum type="alphaLcParenBoth"/>
              <a:tabLst>
                <a:tab pos="198120" algn="l"/>
              </a:tabLst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</a:t>
            </a:r>
            <a:r>
              <a:rPr lang="en-US"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transformation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 pixels.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490980" lvl="1" indent="191770">
              <a:lnSpc>
                <a:spcPct val="101699"/>
              </a:lnSpc>
              <a:buFont typeface="Calibri"/>
              <a:buAutoNum type="alphaLcParenBoth"/>
              <a:tabLst>
                <a:tab pos="204470" algn="l"/>
              </a:tabLst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en-US"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s=clog(1+r),</a:t>
            </a:r>
            <a:r>
              <a:rPr lang="en-US"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c=10,</a:t>
            </a:r>
            <a:r>
              <a:rPr lang="en-US"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</a:t>
            </a:r>
            <a:r>
              <a:rPr lang="en-US"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for: 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r=[0,10,50,100]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899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6D5781-7FF2-57C0-B093-86DC5DF8FD78}"/>
                  </a:ext>
                </a:extLst>
              </p:cNvPr>
              <p:cNvSpPr txBox="1"/>
              <p:nvPr/>
            </p:nvSpPr>
            <p:spPr>
              <a:xfrm>
                <a:off x="762000" y="3392713"/>
                <a:ext cx="4648200" cy="22929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Histogram Processing</a:t>
                </a:r>
              </a:p>
              <a:p>
                <a:pPr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Role of Histogram Equalization</a:t>
                </a:r>
              </a:p>
              <a:p>
                <a:pPr>
                  <a:buNone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Histogram equalization is a technique used to improve </a:t>
                </a: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 contrast</a:t>
                </a: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buNone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Redistributes pixel intensity values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Spreads intensity values over a wider range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Enhances details in dark and bright regions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Produces a more balanced histogram </a:t>
                </a:r>
              </a:p>
              <a:p>
                <a:pPr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Given 3-bit Image Histogram</a:t>
                </a:r>
              </a:p>
              <a:p>
                <a:pPr>
                  <a:buNone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it is a </a:t>
                </a: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3-bit image</a:t>
                </a: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IN" sz="1100" i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Intensity levels are from: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IN" sz="1100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1100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to</m:t>
                      </m:r>
                      <m:r>
                        <m:rPr>
                          <m:nor/>
                        </m:rPr>
                        <a:rPr lang="en-IN" sz="1100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sz="1100" b="0" i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IN" sz="1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6D5781-7FF2-57C0-B093-86DC5DF8F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92713"/>
                <a:ext cx="4648200" cy="22929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EAC4460C-A4FD-9D51-3975-F3B252C47C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795206"/>
              </p:ext>
            </p:extLst>
          </p:nvPr>
        </p:nvGraphicFramePr>
        <p:xfrm>
          <a:off x="914400" y="2119177"/>
          <a:ext cx="1123315" cy="106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645">
                <a:tc>
                  <a:txBody>
                    <a:bodyPr/>
                    <a:lstStyle/>
                    <a:p>
                      <a:pPr marL="31750">
                        <a:lnSpc>
                          <a:spcPts val="1045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Intensit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spc="-50" dirty="0">
                          <a:latin typeface="Calibri"/>
                          <a:cs typeface="Calibri"/>
                        </a:rPr>
                        <a:t>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045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Frequenc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spc="-50" dirty="0">
                          <a:latin typeface="Calibri"/>
                          <a:cs typeface="Calibri"/>
                        </a:rPr>
                        <a:t>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L="3175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L="3175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L="3175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marL="31750">
                        <a:lnSpc>
                          <a:spcPts val="119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19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0493E55-5870-6916-4324-2BF8D2DC53BD}"/>
              </a:ext>
            </a:extLst>
          </p:cNvPr>
          <p:cNvSpPr txBox="1"/>
          <p:nvPr/>
        </p:nvSpPr>
        <p:spPr>
          <a:xfrm>
            <a:off x="685800" y="1143000"/>
            <a:ext cx="38898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1130" indent="-138430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151130" algn="l"/>
              </a:tabLst>
            </a:pPr>
            <a:r>
              <a:rPr lang="en-US" sz="1100" b="1" spc="-10" dirty="0">
                <a:latin typeface="Calibri"/>
                <a:cs typeface="Calibri"/>
              </a:rPr>
              <a:t>Histogram</a:t>
            </a:r>
            <a:r>
              <a:rPr lang="en-US" sz="1100" b="1" spc="-25" dirty="0">
                <a:latin typeface="Calibri"/>
                <a:cs typeface="Calibri"/>
              </a:rPr>
              <a:t> </a:t>
            </a:r>
            <a:r>
              <a:rPr lang="en-US" sz="1100" b="1" spc="-10" dirty="0">
                <a:latin typeface="Calibri"/>
                <a:cs typeface="Calibri"/>
              </a:rPr>
              <a:t>Processing</a:t>
            </a:r>
            <a:endParaRPr lang="en-US" sz="1100" dirty="0">
              <a:latin typeface="Calibri"/>
              <a:cs typeface="Calibri"/>
            </a:endParaRPr>
          </a:p>
          <a:p>
            <a:pPr marL="198120" lvl="1" indent="-185420">
              <a:lnSpc>
                <a:spcPct val="100000"/>
              </a:lnSpc>
              <a:spcBef>
                <a:spcPts val="20"/>
              </a:spcBef>
              <a:buFont typeface="Calibri"/>
              <a:buAutoNum type="alphaLcParenBoth"/>
              <a:tabLst>
                <a:tab pos="198120" algn="l"/>
              </a:tabLst>
            </a:pPr>
            <a:r>
              <a:rPr lang="en-US" sz="1100" dirty="0">
                <a:latin typeface="Calibri"/>
                <a:cs typeface="Calibri"/>
              </a:rPr>
              <a:t>Explain</a:t>
            </a:r>
            <a:r>
              <a:rPr lang="en-US" sz="1100" spc="-15" dirty="0">
                <a:latin typeface="Calibri"/>
                <a:cs typeface="Calibri"/>
              </a:rPr>
              <a:t> </a:t>
            </a:r>
            <a:r>
              <a:rPr lang="en-US" sz="1100" dirty="0">
                <a:latin typeface="Calibri"/>
                <a:cs typeface="Calibri"/>
              </a:rPr>
              <a:t>the</a:t>
            </a:r>
            <a:r>
              <a:rPr lang="en-US" sz="1100" spc="-10" dirty="0">
                <a:latin typeface="Calibri"/>
                <a:cs typeface="Calibri"/>
              </a:rPr>
              <a:t> </a:t>
            </a:r>
            <a:r>
              <a:rPr lang="en-US" sz="1100" dirty="0">
                <a:latin typeface="Calibri"/>
                <a:cs typeface="Calibri"/>
              </a:rPr>
              <a:t>role</a:t>
            </a:r>
            <a:r>
              <a:rPr lang="en-US" sz="1100" spc="-10" dirty="0">
                <a:latin typeface="Calibri"/>
                <a:cs typeface="Calibri"/>
              </a:rPr>
              <a:t> </a:t>
            </a:r>
            <a:r>
              <a:rPr lang="en-US" sz="1100" dirty="0">
                <a:latin typeface="Calibri"/>
                <a:cs typeface="Calibri"/>
              </a:rPr>
              <a:t>of</a:t>
            </a:r>
            <a:r>
              <a:rPr lang="en-US" sz="1100" spc="-15" dirty="0">
                <a:latin typeface="Calibri"/>
                <a:cs typeface="Calibri"/>
              </a:rPr>
              <a:t> </a:t>
            </a:r>
            <a:r>
              <a:rPr lang="en-US" sz="1100" spc="-10" dirty="0">
                <a:latin typeface="Calibri"/>
                <a:cs typeface="Calibri"/>
              </a:rPr>
              <a:t>histogram equalization </a:t>
            </a:r>
            <a:r>
              <a:rPr lang="en-US" sz="1100" dirty="0">
                <a:latin typeface="Calibri"/>
                <a:cs typeface="Calibri"/>
              </a:rPr>
              <a:t>in</a:t>
            </a:r>
            <a:r>
              <a:rPr lang="en-US" sz="1100" spc="-10" dirty="0">
                <a:latin typeface="Calibri"/>
                <a:cs typeface="Calibri"/>
              </a:rPr>
              <a:t> contrast</a:t>
            </a:r>
            <a:r>
              <a:rPr lang="en-US" sz="1100" spc="-15" dirty="0">
                <a:latin typeface="Calibri"/>
                <a:cs typeface="Calibri"/>
              </a:rPr>
              <a:t> </a:t>
            </a:r>
            <a:r>
              <a:rPr lang="en-US" sz="1100" spc="-10" dirty="0">
                <a:latin typeface="Calibri"/>
                <a:cs typeface="Calibri"/>
              </a:rPr>
              <a:t>enhancement.</a:t>
            </a:r>
            <a:endParaRPr lang="en-US" sz="1100" dirty="0">
              <a:latin typeface="Calibri"/>
              <a:cs typeface="Calibri"/>
            </a:endParaRPr>
          </a:p>
          <a:p>
            <a:pPr marL="204470" lvl="1" indent="-191770">
              <a:lnSpc>
                <a:spcPct val="100000"/>
              </a:lnSpc>
              <a:spcBef>
                <a:spcPts val="25"/>
              </a:spcBef>
              <a:buFont typeface="Calibri"/>
              <a:buAutoNum type="alphaLcParenBoth"/>
              <a:tabLst>
                <a:tab pos="204470" algn="l"/>
              </a:tabLst>
            </a:pPr>
            <a:r>
              <a:rPr lang="en-US" sz="1100" dirty="0">
                <a:latin typeface="Calibri"/>
                <a:cs typeface="Calibri"/>
              </a:rPr>
              <a:t>Given</a:t>
            </a:r>
            <a:r>
              <a:rPr lang="en-US" sz="1100" spc="-25" dirty="0">
                <a:latin typeface="Calibri"/>
                <a:cs typeface="Calibri"/>
              </a:rPr>
              <a:t> </a:t>
            </a:r>
            <a:r>
              <a:rPr lang="en-US" sz="1100" dirty="0">
                <a:latin typeface="Calibri"/>
                <a:cs typeface="Calibri"/>
              </a:rPr>
              <a:t>a</a:t>
            </a:r>
            <a:r>
              <a:rPr lang="en-US" sz="1100" spc="-25" dirty="0">
                <a:latin typeface="Calibri"/>
                <a:cs typeface="Calibri"/>
              </a:rPr>
              <a:t> </a:t>
            </a:r>
            <a:r>
              <a:rPr lang="en-US" sz="1100" spc="-10" dirty="0">
                <a:latin typeface="Calibri"/>
                <a:cs typeface="Calibri"/>
              </a:rPr>
              <a:t>3-</a:t>
            </a:r>
            <a:r>
              <a:rPr lang="en-US" sz="1100" dirty="0">
                <a:latin typeface="Calibri"/>
                <a:cs typeface="Calibri"/>
              </a:rPr>
              <a:t>bit</a:t>
            </a:r>
            <a:r>
              <a:rPr lang="en-US" sz="1100" spc="-25" dirty="0">
                <a:latin typeface="Calibri"/>
                <a:cs typeface="Calibri"/>
              </a:rPr>
              <a:t> </a:t>
            </a:r>
            <a:r>
              <a:rPr lang="en-US" sz="1100" dirty="0">
                <a:latin typeface="Calibri"/>
                <a:cs typeface="Calibri"/>
              </a:rPr>
              <a:t>image</a:t>
            </a:r>
            <a:r>
              <a:rPr lang="en-US" sz="1100" spc="-25" dirty="0">
                <a:latin typeface="Calibri"/>
                <a:cs typeface="Calibri"/>
              </a:rPr>
              <a:t> </a:t>
            </a:r>
            <a:r>
              <a:rPr lang="en-US" sz="1100" dirty="0">
                <a:latin typeface="Calibri"/>
                <a:cs typeface="Calibri"/>
              </a:rPr>
              <a:t>with</a:t>
            </a:r>
            <a:r>
              <a:rPr lang="en-US" sz="1100" spc="-25" dirty="0">
                <a:latin typeface="Calibri"/>
                <a:cs typeface="Calibri"/>
              </a:rPr>
              <a:t> </a:t>
            </a:r>
            <a:r>
              <a:rPr lang="en-US" sz="1100" spc="-10" dirty="0">
                <a:latin typeface="Calibri"/>
                <a:cs typeface="Calibri"/>
              </a:rPr>
              <a:t>histogram:</a:t>
            </a:r>
            <a:endParaRPr lang="en-US" sz="1100" dirty="0">
              <a:latin typeface="Calibri"/>
              <a:cs typeface="Calibri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B77D5C4-4C22-DD00-1683-C3A342916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570647"/>
              </p:ext>
            </p:extLst>
          </p:nvPr>
        </p:nvGraphicFramePr>
        <p:xfrm>
          <a:off x="914400" y="5892384"/>
          <a:ext cx="3661228" cy="1828800"/>
        </p:xfrm>
        <a:graphic>
          <a:graphicData uri="http://schemas.openxmlformats.org/drawingml/2006/table">
            <a:tbl>
              <a:tblPr/>
              <a:tblGrid>
                <a:gridCol w="1830614">
                  <a:extLst>
                    <a:ext uri="{9D8B030D-6E8A-4147-A177-3AD203B41FA5}">
                      <a16:colId xmlns:a16="http://schemas.microsoft.com/office/drawing/2014/main" val="3568376703"/>
                    </a:ext>
                  </a:extLst>
                </a:gridCol>
                <a:gridCol w="1830614">
                  <a:extLst>
                    <a:ext uri="{9D8B030D-6E8A-4147-A177-3AD203B41FA5}">
                      <a16:colId xmlns:a16="http://schemas.microsoft.com/office/drawing/2014/main" val="70942574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Intensity (r_k)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 (n_k)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0563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4137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5461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5772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84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9418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13A710-1EF1-F47E-C50A-986AC46C636D}"/>
                  </a:ext>
                </a:extLst>
              </p:cNvPr>
              <p:cNvSpPr txBox="1"/>
              <p:nvPr/>
            </p:nvSpPr>
            <p:spPr>
              <a:xfrm>
                <a:off x="762000" y="533401"/>
                <a:ext cx="5072742" cy="550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Calculate Probability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1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sz="11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IN" sz="11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IN" sz="11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IN" sz="11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13A710-1EF1-F47E-C50A-986AC46C6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33401"/>
                <a:ext cx="5072742" cy="5504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829F67-1FFB-6F6B-31C1-9D34EDFF3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072184"/>
              </p:ext>
            </p:extLst>
          </p:nvPr>
        </p:nvGraphicFramePr>
        <p:xfrm>
          <a:off x="388938" y="1832498"/>
          <a:ext cx="6938750" cy="1977500"/>
        </p:xfrm>
        <a:graphic>
          <a:graphicData uri="http://schemas.openxmlformats.org/drawingml/2006/table">
            <a:tbl>
              <a:tblPr/>
              <a:tblGrid>
                <a:gridCol w="2331508">
                  <a:extLst>
                    <a:ext uri="{9D8B030D-6E8A-4147-A177-3AD203B41FA5}">
                      <a16:colId xmlns:a16="http://schemas.microsoft.com/office/drawing/2014/main" val="1759785628"/>
                    </a:ext>
                  </a:extLst>
                </a:gridCol>
                <a:gridCol w="1262380">
                  <a:extLst>
                    <a:ext uri="{9D8B030D-6E8A-4147-A177-3AD203B41FA5}">
                      <a16:colId xmlns:a16="http://schemas.microsoft.com/office/drawing/2014/main" val="3965798463"/>
                    </a:ext>
                  </a:extLst>
                </a:gridCol>
                <a:gridCol w="3344862">
                  <a:extLst>
                    <a:ext uri="{9D8B030D-6E8A-4147-A177-3AD203B41FA5}">
                      <a16:colId xmlns:a16="http://schemas.microsoft.com/office/drawing/2014/main" val="2256005764"/>
                    </a:ext>
                  </a:extLst>
                </a:gridCol>
              </a:tblGrid>
              <a:tr h="395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Intensity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154931"/>
                  </a:ext>
                </a:extLst>
              </a:tr>
              <a:tr h="395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(2/16=0.125)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91722"/>
                  </a:ext>
                </a:extLst>
              </a:tr>
              <a:tr h="395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(2/16=0.125)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7059"/>
                  </a:ext>
                </a:extLst>
              </a:tr>
              <a:tr h="395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(4/16=0.25)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314283"/>
                  </a:ext>
                </a:extLst>
              </a:tr>
              <a:tr h="395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(8/16=0.5)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00879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BE10C19-8691-1B12-FEB9-E80F3B30BA72}"/>
              </a:ext>
            </a:extLst>
          </p:cNvPr>
          <p:cNvSpPr txBox="1"/>
          <p:nvPr/>
        </p:nvSpPr>
        <p:spPr>
          <a:xfrm>
            <a:off x="388938" y="4231236"/>
            <a:ext cx="50727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Calculate Cumulative Distribution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36DA5F2-3A4C-D3C1-05D7-B7352ED98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739276"/>
              </p:ext>
            </p:extLst>
          </p:nvPr>
        </p:nvGraphicFramePr>
        <p:xfrm>
          <a:off x="378052" y="4876800"/>
          <a:ext cx="6019814" cy="1295400"/>
        </p:xfrm>
        <a:graphic>
          <a:graphicData uri="http://schemas.openxmlformats.org/drawingml/2006/table">
            <a:tbl>
              <a:tblPr/>
              <a:tblGrid>
                <a:gridCol w="2331508">
                  <a:extLst>
                    <a:ext uri="{9D8B030D-6E8A-4147-A177-3AD203B41FA5}">
                      <a16:colId xmlns:a16="http://schemas.microsoft.com/office/drawing/2014/main" val="430463749"/>
                    </a:ext>
                  </a:extLst>
                </a:gridCol>
                <a:gridCol w="1344930">
                  <a:extLst>
                    <a:ext uri="{9D8B030D-6E8A-4147-A177-3AD203B41FA5}">
                      <a16:colId xmlns:a16="http://schemas.microsoft.com/office/drawing/2014/main" val="1723439185"/>
                    </a:ext>
                  </a:extLst>
                </a:gridCol>
                <a:gridCol w="2343376">
                  <a:extLst>
                    <a:ext uri="{9D8B030D-6E8A-4147-A177-3AD203B41FA5}">
                      <a16:colId xmlns:a16="http://schemas.microsoft.com/office/drawing/2014/main" val="32799402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Intensity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498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463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0.250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921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0.500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647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47683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97508A-1C60-A38E-A6AF-C522BD89CA39}"/>
                  </a:ext>
                </a:extLst>
              </p:cNvPr>
              <p:cNvSpPr txBox="1"/>
              <p:nvPr/>
            </p:nvSpPr>
            <p:spPr>
              <a:xfrm>
                <a:off x="457200" y="7162800"/>
                <a:ext cx="5682342" cy="9387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3: Equalized Intensity</a:t>
                </a:r>
              </a:p>
              <a:p>
                <a:pPr>
                  <a:buNone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1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11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sz="11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1100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round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1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sz="11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100" b="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IN" sz="1100" b="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IN" sz="1100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IN" sz="1100" b="0" i="1">
                              <a:latin typeface="Cambria Math" panose="02040503050406030204" pitchFamily="18" charset="0"/>
                            </a:rPr>
                            <m:t>𝐶𝐷𝐹</m:t>
                          </m:r>
                        </m:e>
                      </m:d>
                    </m:oMath>
                  </m:oMathPara>
                </a14:m>
                <a:endParaRPr lang="en-IN" sz="1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−1=7</m:t>
                      </m:r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97508A-1C60-A38E-A6AF-C522BD89C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7162800"/>
                <a:ext cx="5682342" cy="938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1712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0F3A220-6E94-ACBB-8419-B93577F62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271722"/>
              </p:ext>
            </p:extLst>
          </p:nvPr>
        </p:nvGraphicFramePr>
        <p:xfrm>
          <a:off x="457200" y="457200"/>
          <a:ext cx="6926262" cy="2133600"/>
        </p:xfrm>
        <a:graphic>
          <a:graphicData uri="http://schemas.openxmlformats.org/drawingml/2006/table">
            <a:tbl>
              <a:tblPr/>
              <a:tblGrid>
                <a:gridCol w="1680369">
                  <a:extLst>
                    <a:ext uri="{9D8B030D-6E8A-4147-A177-3AD203B41FA5}">
                      <a16:colId xmlns:a16="http://schemas.microsoft.com/office/drawing/2014/main" val="3371640287"/>
                    </a:ext>
                  </a:extLst>
                </a:gridCol>
                <a:gridCol w="1748631">
                  <a:extLst>
                    <a:ext uri="{9D8B030D-6E8A-4147-A177-3AD203B41FA5}">
                      <a16:colId xmlns:a16="http://schemas.microsoft.com/office/drawing/2014/main" val="3284086257"/>
                    </a:ext>
                  </a:extLst>
                </a:gridCol>
                <a:gridCol w="1748631">
                  <a:extLst>
                    <a:ext uri="{9D8B030D-6E8A-4147-A177-3AD203B41FA5}">
                      <a16:colId xmlns:a16="http://schemas.microsoft.com/office/drawing/2014/main" val="794362582"/>
                    </a:ext>
                  </a:extLst>
                </a:gridCol>
                <a:gridCol w="1748631">
                  <a:extLst>
                    <a:ext uri="{9D8B030D-6E8A-4147-A177-3AD203B41FA5}">
                      <a16:colId xmlns:a16="http://schemas.microsoft.com/office/drawing/2014/main" val="360892708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Original Intensity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Equalized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936201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(7(0.125)=0.875)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35825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(7(0.25)=1.75)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03124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(7(0.5)=3.5)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09256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(7(1)=7)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77674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E97227-CE0B-567F-7563-A35ADBA4C83F}"/>
                  </a:ext>
                </a:extLst>
              </p:cNvPr>
              <p:cNvSpPr txBox="1"/>
              <p:nvPr/>
            </p:nvSpPr>
            <p:spPr>
              <a:xfrm>
                <a:off x="609600" y="3124200"/>
                <a:ext cx="5334000" cy="68618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 Mapping: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IN" sz="11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→1, 1→2, 2→4, 3→7</m:t>
                          </m:r>
                        </m:e>
                      </m:borderBox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sz="11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sz="11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sz="11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sz="11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sz="11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Spatial Filtering — Smoothing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Purpose of Spatial Filtering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Smoothing filters are used to: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Reduce noise 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Remove small variations 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Blur an image 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Smooth edges 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Improve image quality before further processing 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3×3 Averaging Filter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region: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10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IN" sz="110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IN" sz="110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10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IN" sz="110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IN" sz="1100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10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IN" sz="1100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lang="en-IN" sz="110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average filter calculates: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1100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New</m:t>
                      </m:r>
                      <m:r>
                        <m:rPr>
                          <m:nor/>
                        </m:rPr>
                        <a:rPr lang="en-IN" sz="1100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1100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Center</m:t>
                      </m:r>
                      <m:r>
                        <m:rPr>
                          <m:nor/>
                        </m:rPr>
                        <a:rPr lang="en-IN" sz="1100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1100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Pixel</m:t>
                      </m:r>
                      <m:r>
                        <a:rPr lang="en-IN" sz="11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1100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Sum</m:t>
                          </m:r>
                          <m:r>
                            <m:rPr>
                              <m:nor/>
                            </m:rPr>
                            <a:rPr lang="en-IN" sz="1100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1100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IN" sz="1100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1100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all</m:t>
                          </m:r>
                          <m:r>
                            <m:rPr>
                              <m:nor/>
                            </m:rPr>
                            <a:rPr lang="en-IN" sz="1100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1100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pixels</m:t>
                          </m:r>
                        </m:num>
                        <m:den>
                          <m:r>
                            <a:rPr lang="en-IN" sz="110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IN" sz="1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>
                          <a:latin typeface="Cambria Math" panose="02040503050406030204" pitchFamily="18" charset="0"/>
                        </a:rPr>
                        <m:t>10+20+30+20+30+40+30+40+50=270</m:t>
                      </m:r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Therefore:</a:t>
                </a:r>
              </a:p>
              <a:p>
                <a:pPr>
                  <a:lnSpc>
                    <a:spcPct val="150000"/>
                  </a:lnSpc>
                  <a:buNone/>
                </a:pPr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E97227-CE0B-567F-7563-A35ADBA4C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124200"/>
                <a:ext cx="5334000" cy="68618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EFB86D3-8F82-56E7-6F0C-6EBB5BD79E66}"/>
              </a:ext>
            </a:extLst>
          </p:cNvPr>
          <p:cNvSpPr txBox="1"/>
          <p:nvPr/>
        </p:nvSpPr>
        <p:spPr>
          <a:xfrm>
            <a:off x="609600" y="3505200"/>
            <a:ext cx="5638800" cy="1331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20"/>
              </a:spcBef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1130" indent="-138430">
              <a:lnSpc>
                <a:spcPct val="150000"/>
              </a:lnSpc>
              <a:buAutoNum type="arabicPeriod" startAt="4"/>
              <a:tabLst>
                <a:tab pos="151130" algn="l"/>
              </a:tabLst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</a:t>
            </a:r>
            <a:r>
              <a:rPr lang="en-US" sz="11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</a:t>
            </a:r>
            <a:r>
              <a:rPr lang="en-US" sz="11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(Smoothing)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120" lvl="1" indent="-185420">
              <a:lnSpc>
                <a:spcPct val="150000"/>
              </a:lnSpc>
              <a:spcBef>
                <a:spcPts val="25"/>
              </a:spcBef>
              <a:buFont typeface="Calibri"/>
              <a:buAutoNum type="alphaLcParenBoth"/>
              <a:tabLst>
                <a:tab pos="198120" algn="l"/>
              </a:tabLst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</a:t>
            </a:r>
            <a:r>
              <a:rPr lang="en-US"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</a:t>
            </a:r>
            <a:r>
              <a:rPr lang="en-US"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</a:t>
            </a:r>
            <a:r>
              <a:rPr lang="en-US"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smoothing.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765810" lvl="1" indent="191770">
              <a:lnSpc>
                <a:spcPct val="150000"/>
              </a:lnSpc>
              <a:buFont typeface="Calibri"/>
              <a:buAutoNum type="alphaLcParenBoth"/>
              <a:tabLst>
                <a:tab pos="204470" algn="l"/>
              </a:tabLst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</a:t>
            </a:r>
            <a:r>
              <a:rPr lang="en-US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3×3</a:t>
            </a:r>
            <a:r>
              <a:rPr lang="en-US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averaging</a:t>
            </a:r>
            <a:r>
              <a:rPr lang="en-US"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en-US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lang="en-US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US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US"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US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20"/>
              </a:spcBef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</a:t>
            </a:r>
            <a:r>
              <a:rPr lang="en-US"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US"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</a:t>
            </a:r>
            <a:r>
              <a:rPr lang="en-US"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value.</a:t>
            </a:r>
          </a:p>
        </p:txBody>
      </p:sp>
    </p:spTree>
    <p:extLst>
      <p:ext uri="{BB962C8B-B14F-4D97-AF65-F5344CB8AC3E}">
        <p14:creationId xmlns:p14="http://schemas.microsoft.com/office/powerpoint/2010/main" val="960081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C16ACB-517D-E7EC-9820-7AC9B13EE71C}"/>
                  </a:ext>
                </a:extLst>
              </p:cNvPr>
              <p:cNvSpPr txBox="1"/>
              <p:nvPr/>
            </p:nvSpPr>
            <p:spPr>
              <a:xfrm>
                <a:off x="1524000" y="381001"/>
                <a:ext cx="4310742" cy="14470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11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New</m:t>
                      </m:r>
                      <m:r>
                        <m:rPr>
                          <m:nor/>
                        </m:rPr>
                        <a:rPr lang="en-IN" sz="11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11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Center</m:t>
                      </m:r>
                      <m:r>
                        <m:rPr>
                          <m:nor/>
                        </m:rPr>
                        <a:rPr lang="en-IN" sz="11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11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Pixel</m:t>
                      </m:r>
                      <m:r>
                        <a:rPr lang="en-IN" sz="11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100">
                              <a:latin typeface="Cambria Math" panose="02040503050406030204" pitchFamily="18" charset="0"/>
                            </a:rPr>
                            <m:t>270</m:t>
                          </m:r>
                        </m:num>
                        <m:den>
                          <m:r>
                            <a:rPr lang="en-IN" sz="110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IN" sz="1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IN" sz="1100">
                              <a:latin typeface="Cambria Math" panose="02040503050406030204" pitchFamily="18" charset="0"/>
                            </a:rPr>
                            <m:t>30</m:t>
                          </m:r>
                        </m:e>
                      </m:borderBox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 Answer: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sz="1100" b="0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New</m:t>
                          </m:r>
                          <m:r>
                            <m:rPr>
                              <m:nor/>
                            </m:rPr>
                            <a:rPr lang="en-IN" sz="1100" b="0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1100" b="0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center</m:t>
                          </m:r>
                          <m:r>
                            <m:rPr>
                              <m:nor/>
                            </m:rPr>
                            <a:rPr lang="en-IN" sz="1100" b="0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1100" b="0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pixel</m:t>
                          </m:r>
                          <m:r>
                            <a:rPr lang="en-IN" sz="1100">
                              <a:latin typeface="Cambria Math" panose="02040503050406030204" pitchFamily="18" charset="0"/>
                            </a:rPr>
                            <m:t>=30</m:t>
                          </m:r>
                        </m:e>
                      </m:borderBox>
                    </m:oMath>
                  </m:oMathPara>
                </a14:m>
                <a:endParaRPr lang="en-IN" sz="1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C16ACB-517D-E7EC-9820-7AC9B13EE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81001"/>
                <a:ext cx="4310742" cy="14470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D733168-5149-AC29-778C-63F7D7E637C7}"/>
              </a:ext>
            </a:extLst>
          </p:cNvPr>
          <p:cNvSpPr txBox="1"/>
          <p:nvPr/>
        </p:nvSpPr>
        <p:spPr>
          <a:xfrm>
            <a:off x="762000" y="2514600"/>
            <a:ext cx="5486400" cy="1839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1130" indent="-138430">
              <a:lnSpc>
                <a:spcPct val="150000"/>
              </a:lnSpc>
              <a:buAutoNum type="arabicPeriod" startAt="5"/>
              <a:tabLst>
                <a:tab pos="151130" algn="l"/>
              </a:tabLst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</a:t>
            </a:r>
            <a:r>
              <a:rPr lang="en-US" sz="11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</a:t>
            </a:r>
            <a:r>
              <a:rPr lang="en-US" sz="11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(Sharpening)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120" lvl="1" indent="-185420">
              <a:lnSpc>
                <a:spcPct val="150000"/>
              </a:lnSpc>
              <a:spcBef>
                <a:spcPts val="25"/>
              </a:spcBef>
              <a:buFont typeface="Calibri"/>
              <a:buAutoNum type="alphaLcParenBoth"/>
              <a:tabLst>
                <a:tab pos="198120" algn="l"/>
              </a:tabLst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</a:t>
            </a:r>
            <a:r>
              <a:rPr lang="en-US"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sharpening</a:t>
            </a:r>
            <a:r>
              <a:rPr lang="en-US"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</a:t>
            </a:r>
            <a:r>
              <a:rPr lang="en-US"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en-US"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4470" lvl="1" indent="-191770">
              <a:lnSpc>
                <a:spcPct val="150000"/>
              </a:lnSpc>
              <a:spcBef>
                <a:spcPts val="20"/>
              </a:spcBef>
              <a:buFont typeface="Calibri"/>
              <a:buAutoNum type="alphaLcParenBoth"/>
              <a:tabLst>
                <a:tab pos="204470" algn="l"/>
              </a:tabLst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</a:t>
            </a:r>
            <a:r>
              <a:rPr lang="en-US"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Laplacian</a:t>
            </a:r>
            <a:r>
              <a:rPr lang="en-US"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25"/>
              </a:spcBef>
              <a:tabLst>
                <a:tab pos="492125" algn="l"/>
                <a:tab pos="1050925" algn="l"/>
                <a:tab pos="1920239" algn="l"/>
              </a:tabLst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</a:t>
            </a:r>
            <a:r>
              <a:rPr lang="en-US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0},</a:t>
            </a:r>
            <a:r>
              <a:rPr lang="en-US"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{-</a:t>
            </a:r>
            <a:r>
              <a:rPr lang="en-US"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4</a:t>
            </a:r>
            <a:r>
              <a:rPr lang="en-US"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1],</a:t>
            </a:r>
            <a:r>
              <a:rPr lang="en-US" sz="1100" spc="4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</a:t>
            </a:r>
            <a:r>
              <a:rPr lang="en-US"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20"/>
              </a:spcBef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25"/>
              </a:spcBef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100" spc="4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100" spc="4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en-US"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100" spc="4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sz="1100" spc="4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en-US"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100" spc="4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100" spc="4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20"/>
              </a:spcBef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</a:t>
            </a:r>
            <a:r>
              <a:rPr lang="en-US"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D5DF53-2AA3-B508-707B-1D817AF4C13F}"/>
                  </a:ext>
                </a:extLst>
              </p:cNvPr>
              <p:cNvSpPr txBox="1"/>
              <p:nvPr/>
            </p:nvSpPr>
            <p:spPr>
              <a:xfrm>
                <a:off x="791029" y="4372093"/>
                <a:ext cx="3889828" cy="54675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Spatial Filtering — Sharpening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Explanation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Sharpening is used to enhance: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Edges 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Boundaries 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Fine details 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High-frequency components of an image 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makes the image appear clearer and more detailed.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Laplacian Mask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mask: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1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100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11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100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1100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IN" sz="1100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1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100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11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 region: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100" i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IN" sz="1100" i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IN" sz="1100" i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100" i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IN" sz="1100" i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IN" sz="1100" i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100" i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IN" sz="1100" i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IN" sz="1100" i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Multiply corresponding elements: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IN" sz="110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IN" sz="110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IN" sz="110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  <m:r>
                        <a:rPr lang="en-IN" sz="110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IN" sz="110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IN" sz="110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ctrlPr>
                            <a:rPr lang="en-IN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1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endParaRPr lang="en-IN" sz="1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D5DF53-2AA3-B508-707B-1D817AF4C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29" y="4372093"/>
                <a:ext cx="3889828" cy="54675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022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EC3D20-8815-C4AD-5993-EFEF7897DFCE}"/>
                  </a:ext>
                </a:extLst>
              </p:cNvPr>
              <p:cNvSpPr txBox="1"/>
              <p:nvPr/>
            </p:nvSpPr>
            <p:spPr>
              <a:xfrm>
                <a:off x="762000" y="685800"/>
                <a:ext cx="5072742" cy="1440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IN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 calculate: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−10+0−10+80−10+0−10+0</m:t>
                      </m:r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100" i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 Answer: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sz="1100" b="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sz="1100" b="0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Output</m:t>
                          </m:r>
                          <m:r>
                            <m:rPr>
                              <m:nor/>
                            </m:rPr>
                            <a:rPr lang="en-IN" sz="1100" b="0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1100" b="0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at</m:t>
                          </m:r>
                          <m:r>
                            <m:rPr>
                              <m:nor/>
                            </m:rPr>
                            <a:rPr lang="en-IN" sz="1100" b="0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1100" b="0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center</m:t>
                          </m:r>
                          <m:r>
                            <a:rPr lang="en-IN" sz="1100" b="0" i="0">
                              <a:latin typeface="Cambria Math" panose="02040503050406030204" pitchFamily="18" charset="0"/>
                            </a:rPr>
                            <m:t>=40</m:t>
                          </m:r>
                        </m:e>
                      </m:borderBox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EC3D20-8815-C4AD-5993-EFEF7897D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685800"/>
                <a:ext cx="5072742" cy="14401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111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1294</Words>
  <Application>Microsoft Office PowerPoint</Application>
  <PresentationFormat>Custom</PresentationFormat>
  <Paragraphs>308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CO-2- AT-1.docx</dc:title>
  <dc:creator>Amrutha</dc:creator>
  <cp:lastModifiedBy>kurupati amrutha</cp:lastModifiedBy>
  <cp:revision>2</cp:revision>
  <dcterms:created xsi:type="dcterms:W3CDTF">2026-07-27T05:06:42Z</dcterms:created>
  <dcterms:modified xsi:type="dcterms:W3CDTF">2026-07-27T05:48:01Z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2026-07-27T00:00:00Z</vt:filetime>
  </property>
  <property fmtid="{D5CDD505-2E9C-101B-9397-08002B2CF9AE}" pid="4" name="Producer">
    <vt:lpwstr>Skia/PDF m152 Google Docs Renderer</vt:lpwstr>
  </property>
  <property fmtid="{D5CDD505-2E9C-101B-9397-08002B2CF9AE}" pid="5" name="LastSaved">
    <vt:filetime>2026-07-27T00:00:00Z</vt:filetime>
  </property>
</Properties>
</file>